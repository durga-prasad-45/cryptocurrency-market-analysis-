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7"/>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x="18288000" cy="10287000"/>
  <p:notesSz cx="6858000" cy="9144000"/>
  <p:embeddedFontLst>
    <p:embeddedFont>
      <p:font typeface="Helvetica World Bold" charset="1" panose="020B0800040000020004"/>
      <p:regular r:id="rId30"/>
    </p:embeddedFont>
    <p:embeddedFont>
      <p:font typeface="Canva Sans Bold" charset="1" panose="020B0803030501040103"/>
      <p:regular r:id="rId31"/>
    </p:embeddedFont>
    <p:embeddedFont>
      <p:font typeface="Calibri (MS) Bold" charset="1" panose="020F0702030404030204"/>
      <p:regular r:id="rId33"/>
    </p:embeddedFont>
    <p:embeddedFont>
      <p:font typeface="Calibri (MS)" charset="1" panose="020F0502020204030204"/>
      <p:regular r:id="rId34"/>
    </p:embeddedFont>
    <p:embeddedFont>
      <p:font typeface="Libre Baskerville" charset="1" panose="02000000000000000000"/>
      <p:regular r:id="rId4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notesMasters/notesMaster1.xml" Type="http://schemas.openxmlformats.org/officeDocument/2006/relationships/notesMaster"/><Relationship Id="rId28" Target="theme/theme2.xml" Type="http://schemas.openxmlformats.org/officeDocument/2006/relationships/theme"/><Relationship Id="rId29" Target="notesSlides/notesSlide1.xml" Type="http://schemas.openxmlformats.org/officeDocument/2006/relationships/notesSlide"/><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notesSlides/notesSlide2.xml" Type="http://schemas.openxmlformats.org/officeDocument/2006/relationships/notesSlide"/><Relationship Id="rId33" Target="fonts/font33.fntdata" Type="http://schemas.openxmlformats.org/officeDocument/2006/relationships/font"/><Relationship Id="rId34" Target="fonts/font34.fntdata" Type="http://schemas.openxmlformats.org/officeDocument/2006/relationships/font"/><Relationship Id="rId35" Target="notesSlides/notesSlide3.xml" Type="http://schemas.openxmlformats.org/officeDocument/2006/relationships/notesSlide"/><Relationship Id="rId36" Target="notesSlides/notesSlide4.xml" Type="http://schemas.openxmlformats.org/officeDocument/2006/relationships/notesSlide"/><Relationship Id="rId37" Target="notesSlides/notesSlide5.xml" Type="http://schemas.openxmlformats.org/officeDocument/2006/relationships/notesSlide"/><Relationship Id="rId38" Target="notesSlides/notesSlide6.xml" Type="http://schemas.openxmlformats.org/officeDocument/2006/relationships/notesSlide"/><Relationship Id="rId39" Target="notesSlides/notesSlide7.xml" Type="http://schemas.openxmlformats.org/officeDocument/2006/relationships/notesSlide"/><Relationship Id="rId4" Target="theme/theme1.xml" Type="http://schemas.openxmlformats.org/officeDocument/2006/relationships/theme"/><Relationship Id="rId40" Target="notesSlides/notesSlide8.xml" Type="http://schemas.openxmlformats.org/officeDocument/2006/relationships/notesSlide"/><Relationship Id="rId41" Target="notesSlides/notesSlide9.xml" Type="http://schemas.openxmlformats.org/officeDocument/2006/relationships/notesSlide"/><Relationship Id="rId42" Target="notesSlides/notesSlide10.xml" Type="http://schemas.openxmlformats.org/officeDocument/2006/relationships/notesSlide"/><Relationship Id="rId43" Target="notesSlides/notesSlide11.xml" Type="http://schemas.openxmlformats.org/officeDocument/2006/relationships/notesSlide"/><Relationship Id="rId44" Target="notesSlides/notesSlide12.xml" Type="http://schemas.openxmlformats.org/officeDocument/2006/relationships/notesSlide"/><Relationship Id="rId45" Target="notesSlides/notesSlide13.xml" Type="http://schemas.openxmlformats.org/officeDocument/2006/relationships/notesSlide"/><Relationship Id="rId46" Target="notesSlides/notesSlide14.xml" Type="http://schemas.openxmlformats.org/officeDocument/2006/relationships/notesSlide"/><Relationship Id="rId47" Target="notesSlides/notesSlide15.xml" Type="http://schemas.openxmlformats.org/officeDocument/2006/relationships/notesSlide"/><Relationship Id="rId48" Target="notesSlides/notesSlide16.xml" Type="http://schemas.openxmlformats.org/officeDocument/2006/relationships/notesSlide"/><Relationship Id="rId49" Target="fonts/font49.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png" Type="http://schemas.openxmlformats.org/officeDocument/2006/relationships/image"/><Relationship Id="rId4" Target="../media/image3.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png" Type="http://schemas.openxmlformats.org/officeDocument/2006/relationships/image"/><Relationship Id="rId4" Target="../media/image3.jpeg" Type="http://schemas.openxmlformats.org/officeDocument/2006/relationships/image"/><Relationship Id="rId5" Target="https://coinmarketcap.com" TargetMode="External" Type="http://schemas.openxmlformats.org/officeDocument/2006/relationships/hyperlink"/></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4.png" Type="http://schemas.openxmlformats.org/officeDocument/2006/relationships/image"/><Relationship Id="rId4" Target="../media/image5.png" Type="http://schemas.openxmlformats.org/officeDocument/2006/relationships/image"/><Relationship Id="rId5" Target="../media/image6.png" Type="http://schemas.openxmlformats.org/officeDocument/2006/relationships/image"/><Relationship Id="rId6" Target="../media/image7.png" Type="http://schemas.openxmlformats.org/officeDocument/2006/relationships/image"/><Relationship Id="rId7" Target="../media/image8.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1.png" Type="http://schemas.openxmlformats.org/officeDocument/2006/relationships/image"/><Relationship Id="rId4" Target="../media/image9.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png" Type="http://schemas.openxmlformats.org/officeDocument/2006/relationships/image"/><Relationship Id="rId4" Target="../media/image3.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10.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png" Type="http://schemas.openxmlformats.org/officeDocument/2006/relationships/image"/><Relationship Id="rId4" Target="../media/image3.jpeg" Type="http://schemas.openxmlformats.org/officeDocument/2006/relationships/image"/><Relationship Id="rId5" Target="../media/image1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1.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png" Type="http://schemas.openxmlformats.org/officeDocument/2006/relationships/image"/><Relationship Id="rId4" Target="../media/image3.jpeg" Type="http://schemas.openxmlformats.org/officeDocument/2006/relationships/image"/><Relationship Id="rId5" Target="../media/image12.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png" Type="http://schemas.openxmlformats.org/officeDocument/2006/relationships/image"/><Relationship Id="rId4" Target="../media/image3.jpeg" Type="http://schemas.openxmlformats.org/officeDocument/2006/relationships/image"/><Relationship Id="rId5" Target="../media/image13.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3.jpeg" Type="http://schemas.openxmlformats.org/officeDocument/2006/relationships/image"/><Relationship Id="rId4" Target="../media/image1.png" Type="http://schemas.openxmlformats.org/officeDocument/2006/relationships/image"/><Relationship Id="rId5" Target="../media/image14.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png" Type="http://schemas.openxmlformats.org/officeDocument/2006/relationships/image"/><Relationship Id="rId4" Target="../media/image3.jpeg" Type="http://schemas.openxmlformats.org/officeDocument/2006/relationships/image"/><Relationship Id="rId5" Target="../media/image15.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png" Type="http://schemas.openxmlformats.org/officeDocument/2006/relationships/image"/><Relationship Id="rId4" Target="../media/image3.jpeg" Type="http://schemas.openxmlformats.org/officeDocument/2006/relationships/image"/><Relationship Id="rId5" Target="../media/image16.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1.png" Type="http://schemas.openxmlformats.org/officeDocument/2006/relationships/image"/><Relationship Id="rId4" Target="../media/image3.jpeg" Type="http://schemas.openxmlformats.org/officeDocument/2006/relationships/image"/><Relationship Id="rId5" Target="../media/image17.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1.png" Type="http://schemas.openxmlformats.org/officeDocument/2006/relationships/image"/><Relationship Id="rId4" Target="../media/image3.jpeg" Type="http://schemas.openxmlformats.org/officeDocument/2006/relationships/image"/><Relationship Id="rId5" Target="../media/image18.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1.png" Type="http://schemas.openxmlformats.org/officeDocument/2006/relationships/image"/><Relationship Id="rId4" Target="../media/image3.jpeg" Type="http://schemas.openxmlformats.org/officeDocument/2006/relationships/image"/><Relationship Id="rId5" Target="../media/image19.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0.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1.png" Type="http://schemas.openxmlformats.org/officeDocument/2006/relationships/image"/><Relationship Id="rId4" Target="../media/image3.jpe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1.png" Type="http://schemas.openxmlformats.org/officeDocument/2006/relationships/image"/><Relationship Id="rId4" Target="../media/image3.jpe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1.png" Type="http://schemas.openxmlformats.org/officeDocument/2006/relationships/image"/><Relationship Id="rId4" Target="../media/image2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221348" y="9277474"/>
            <a:ext cx="4838100" cy="1009526"/>
            <a:chOff x="0" y="0"/>
            <a:chExt cx="6450800" cy="1346035"/>
          </a:xfrm>
        </p:grpSpPr>
        <p:sp>
          <p:nvSpPr>
            <p:cNvPr name="Freeform 3" id="3"/>
            <p:cNvSpPr/>
            <p:nvPr/>
          </p:nvSpPr>
          <p:spPr>
            <a:xfrm flipH="false" flipV="false" rot="0">
              <a:off x="0" y="0"/>
              <a:ext cx="6450838" cy="1346073"/>
            </a:xfrm>
            <a:custGeom>
              <a:avLst/>
              <a:gdLst/>
              <a:ahLst/>
              <a:cxnLst/>
              <a:rect r="r" b="b" t="t" l="l"/>
              <a:pathLst>
                <a:path h="1346073" w="6450838">
                  <a:moveTo>
                    <a:pt x="0" y="0"/>
                  </a:moveTo>
                  <a:lnTo>
                    <a:pt x="6450838" y="0"/>
                  </a:lnTo>
                  <a:lnTo>
                    <a:pt x="6450838" y="1346073"/>
                  </a:lnTo>
                  <a:lnTo>
                    <a:pt x="0" y="1346073"/>
                  </a:lnTo>
                  <a:lnTo>
                    <a:pt x="0" y="0"/>
                  </a:lnTo>
                  <a:close/>
                </a:path>
              </a:pathLst>
            </a:custGeom>
            <a:blipFill>
              <a:blip r:embed="rId3"/>
              <a:stretch>
                <a:fillRect l="0" t="0" r="0" b="2"/>
              </a:stretch>
            </a:blipFill>
          </p:spPr>
        </p:sp>
      </p:grpSp>
      <p:grpSp>
        <p:nvGrpSpPr>
          <p:cNvPr name="Group 4" id="4"/>
          <p:cNvGrpSpPr/>
          <p:nvPr/>
        </p:nvGrpSpPr>
        <p:grpSpPr>
          <a:xfrm rot="0">
            <a:off x="0" y="-472440"/>
            <a:ext cx="18286219" cy="4145280"/>
            <a:chOff x="0" y="0"/>
            <a:chExt cx="24381625" cy="5527040"/>
          </a:xfrm>
        </p:grpSpPr>
        <p:sp>
          <p:nvSpPr>
            <p:cNvPr name="Freeform 5" id="5"/>
            <p:cNvSpPr/>
            <p:nvPr/>
          </p:nvSpPr>
          <p:spPr>
            <a:xfrm flipH="false" flipV="false" rot="0">
              <a:off x="0" y="0"/>
              <a:ext cx="24381588" cy="5527040"/>
            </a:xfrm>
            <a:custGeom>
              <a:avLst/>
              <a:gdLst/>
              <a:ahLst/>
              <a:cxnLst/>
              <a:rect r="r" b="b" t="t" l="l"/>
              <a:pathLst>
                <a:path h="5527040" w="24381588">
                  <a:moveTo>
                    <a:pt x="0" y="0"/>
                  </a:moveTo>
                  <a:lnTo>
                    <a:pt x="24381588" y="0"/>
                  </a:lnTo>
                  <a:lnTo>
                    <a:pt x="24381588" y="5527040"/>
                  </a:lnTo>
                  <a:lnTo>
                    <a:pt x="0" y="5527040"/>
                  </a:lnTo>
                  <a:lnTo>
                    <a:pt x="0" y="0"/>
                  </a:lnTo>
                  <a:close/>
                </a:path>
              </a:pathLst>
            </a:custGeom>
            <a:blipFill>
              <a:blip r:embed="rId4"/>
              <a:stretch>
                <a:fillRect l="0" t="0" r="0" b="-148093"/>
              </a:stretch>
            </a:blipFill>
          </p:spPr>
        </p:sp>
      </p:grpSp>
      <p:sp>
        <p:nvSpPr>
          <p:cNvPr name="TextBox 6" id="6"/>
          <p:cNvSpPr txBox="true"/>
          <p:nvPr/>
        </p:nvSpPr>
        <p:spPr>
          <a:xfrm rot="0">
            <a:off x="1749794" y="4095750"/>
            <a:ext cx="14788412" cy="2105025"/>
          </a:xfrm>
          <a:prstGeom prst="rect">
            <a:avLst/>
          </a:prstGeom>
        </p:spPr>
        <p:txBody>
          <a:bodyPr anchor="t" rtlCol="false" tIns="0" lIns="0" bIns="0" rIns="0">
            <a:spAutoFit/>
          </a:bodyPr>
          <a:lstStyle/>
          <a:p>
            <a:pPr algn="ctr">
              <a:lnSpc>
                <a:spcPts val="8399"/>
              </a:lnSpc>
            </a:pPr>
            <a:r>
              <a:rPr lang="en-US" b="true" sz="6999">
                <a:solidFill>
                  <a:srgbClr val="000000"/>
                </a:solidFill>
                <a:latin typeface="Helvetica World Bold"/>
                <a:ea typeface="Helvetica World Bold"/>
                <a:cs typeface="Helvetica World Bold"/>
                <a:sym typeface="Helvetica World Bold"/>
              </a:rPr>
              <a:t>Coin Market Analysis </a:t>
            </a:r>
            <a:r>
              <a:rPr lang="en-US" b="true" sz="6999">
                <a:solidFill>
                  <a:srgbClr val="000000"/>
                </a:solidFill>
                <a:latin typeface="Helvetica World Bold"/>
                <a:ea typeface="Helvetica World Bold"/>
                <a:cs typeface="Helvetica World Bold"/>
                <a:sym typeface="Helvetica World Bold"/>
              </a:rPr>
              <a:t>using Web Scraping &amp; EDA</a:t>
            </a:r>
          </a:p>
        </p:txBody>
      </p:sp>
      <p:sp>
        <p:nvSpPr>
          <p:cNvPr name="TextBox 7" id="7"/>
          <p:cNvSpPr txBox="true"/>
          <p:nvPr/>
        </p:nvSpPr>
        <p:spPr>
          <a:xfrm rot="0">
            <a:off x="703374" y="9304206"/>
            <a:ext cx="10686431" cy="431799"/>
          </a:xfrm>
          <a:prstGeom prst="rect">
            <a:avLst/>
          </a:prstGeom>
        </p:spPr>
        <p:txBody>
          <a:bodyPr anchor="t" rtlCol="false" tIns="0" lIns="0" bIns="0" rIns="0">
            <a:spAutoFit/>
          </a:bodyPr>
          <a:lstStyle/>
          <a:p>
            <a:pPr algn="l">
              <a:lnSpc>
                <a:spcPts val="3500"/>
              </a:lnSpc>
            </a:pPr>
            <a:r>
              <a:rPr lang="en-US" sz="2500" b="true">
                <a:solidFill>
                  <a:srgbClr val="000000"/>
                </a:solidFill>
                <a:latin typeface="Canva Sans Bold"/>
                <a:ea typeface="Canva Sans Bold"/>
                <a:cs typeface="Canva Sans Bold"/>
                <a:sym typeface="Canva Sans Bold"/>
              </a:rPr>
              <a:t>Batch No : 474</a:t>
            </a:r>
          </a:p>
        </p:txBody>
      </p:sp>
      <p:sp>
        <p:nvSpPr>
          <p:cNvPr name="TextBox 8" id="8"/>
          <p:cNvSpPr txBox="true"/>
          <p:nvPr/>
        </p:nvSpPr>
        <p:spPr>
          <a:xfrm rot="0">
            <a:off x="703374" y="8209977"/>
            <a:ext cx="10686431" cy="580390"/>
          </a:xfrm>
          <a:prstGeom prst="rect">
            <a:avLst/>
          </a:prstGeom>
        </p:spPr>
        <p:txBody>
          <a:bodyPr anchor="t" rtlCol="false" tIns="0" lIns="0" bIns="0" rIns="0">
            <a:spAutoFit/>
          </a:bodyPr>
          <a:lstStyle/>
          <a:p>
            <a:pPr algn="l">
              <a:lnSpc>
                <a:spcPts val="4759"/>
              </a:lnSpc>
            </a:pPr>
            <a:r>
              <a:rPr lang="en-US" sz="3399" b="true">
                <a:solidFill>
                  <a:srgbClr val="FF0000"/>
                </a:solidFill>
                <a:latin typeface="Canva Sans Bold"/>
                <a:ea typeface="Canva Sans Bold"/>
                <a:cs typeface="Canva Sans Bold"/>
                <a:sym typeface="Canva Sans Bold"/>
              </a:rPr>
              <a:t>Presented by:</a:t>
            </a:r>
          </a:p>
        </p:txBody>
      </p:sp>
      <p:sp>
        <p:nvSpPr>
          <p:cNvPr name="TextBox 9" id="9"/>
          <p:cNvSpPr txBox="true"/>
          <p:nvPr/>
        </p:nvSpPr>
        <p:spPr>
          <a:xfrm rot="0">
            <a:off x="693849" y="8685590"/>
            <a:ext cx="10686431" cy="580365"/>
          </a:xfrm>
          <a:prstGeom prst="rect">
            <a:avLst/>
          </a:prstGeom>
        </p:spPr>
        <p:txBody>
          <a:bodyPr anchor="t" rtlCol="false" tIns="0" lIns="0" bIns="0" rIns="0">
            <a:spAutoFit/>
          </a:bodyPr>
          <a:lstStyle/>
          <a:p>
            <a:pPr algn="l">
              <a:lnSpc>
                <a:spcPts val="4759"/>
              </a:lnSpc>
            </a:pPr>
            <a:r>
              <a:rPr lang="en-US" sz="3399" b="true">
                <a:solidFill>
                  <a:srgbClr val="000000"/>
                </a:solidFill>
                <a:latin typeface="Canva Sans Bold"/>
                <a:ea typeface="Canva Sans Bold"/>
                <a:cs typeface="Canva Sans Bold"/>
                <a:sym typeface="Canva Sans Bold"/>
              </a:rPr>
              <a:t>Durga, Varsha, Mourya</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221348" y="9277474"/>
            <a:ext cx="4838100" cy="1009526"/>
            <a:chOff x="0" y="0"/>
            <a:chExt cx="6450800" cy="1346035"/>
          </a:xfrm>
        </p:grpSpPr>
        <p:sp>
          <p:nvSpPr>
            <p:cNvPr name="Freeform 3" id="3"/>
            <p:cNvSpPr/>
            <p:nvPr/>
          </p:nvSpPr>
          <p:spPr>
            <a:xfrm flipH="false" flipV="false" rot="0">
              <a:off x="0" y="0"/>
              <a:ext cx="6450838" cy="1346073"/>
            </a:xfrm>
            <a:custGeom>
              <a:avLst/>
              <a:gdLst/>
              <a:ahLst/>
              <a:cxnLst/>
              <a:rect r="r" b="b" t="t" l="l"/>
              <a:pathLst>
                <a:path h="1346073" w="6450838">
                  <a:moveTo>
                    <a:pt x="0" y="0"/>
                  </a:moveTo>
                  <a:lnTo>
                    <a:pt x="6450838" y="0"/>
                  </a:lnTo>
                  <a:lnTo>
                    <a:pt x="6450838" y="1346073"/>
                  </a:lnTo>
                  <a:lnTo>
                    <a:pt x="0" y="1346073"/>
                  </a:lnTo>
                  <a:lnTo>
                    <a:pt x="0" y="0"/>
                  </a:lnTo>
                  <a:close/>
                </a:path>
              </a:pathLst>
            </a:custGeom>
            <a:blipFill>
              <a:blip r:embed="rId3"/>
              <a:stretch>
                <a:fillRect l="0" t="0" r="0" b="2"/>
              </a:stretch>
            </a:blipFill>
          </p:spPr>
        </p:sp>
      </p:grpSp>
      <p:grpSp>
        <p:nvGrpSpPr>
          <p:cNvPr name="Group 4" id="4"/>
          <p:cNvGrpSpPr/>
          <p:nvPr/>
        </p:nvGrpSpPr>
        <p:grpSpPr>
          <a:xfrm rot="0">
            <a:off x="565230" y="421842"/>
            <a:ext cx="17173866" cy="1988344"/>
            <a:chOff x="0" y="0"/>
            <a:chExt cx="22898488" cy="2651126"/>
          </a:xfrm>
        </p:grpSpPr>
        <p:sp>
          <p:nvSpPr>
            <p:cNvPr name="Freeform 5" id="5"/>
            <p:cNvSpPr/>
            <p:nvPr/>
          </p:nvSpPr>
          <p:spPr>
            <a:xfrm flipH="false" flipV="false" rot="0">
              <a:off x="0" y="0"/>
              <a:ext cx="22898488" cy="2651127"/>
            </a:xfrm>
            <a:custGeom>
              <a:avLst/>
              <a:gdLst/>
              <a:ahLst/>
              <a:cxnLst/>
              <a:rect r="r" b="b" t="t" l="l"/>
              <a:pathLst>
                <a:path h="2651127" w="22898488">
                  <a:moveTo>
                    <a:pt x="0" y="0"/>
                  </a:moveTo>
                  <a:lnTo>
                    <a:pt x="22898488" y="0"/>
                  </a:lnTo>
                  <a:lnTo>
                    <a:pt x="22898488" y="2651127"/>
                  </a:lnTo>
                  <a:lnTo>
                    <a:pt x="0" y="2651127"/>
                  </a:lnTo>
                  <a:close/>
                </a:path>
              </a:pathLst>
            </a:custGeom>
            <a:blipFill>
              <a:blip r:embed="rId4">
                <a:alphaModFix amt="0"/>
              </a:blip>
              <a:stretch>
                <a:fillRect l="0" t="-104573" r="8154" b="-104573"/>
              </a:stretch>
            </a:blipFill>
          </p:spPr>
        </p:sp>
        <p:sp>
          <p:nvSpPr>
            <p:cNvPr name="TextBox 6" id="6"/>
            <p:cNvSpPr txBox="true"/>
            <p:nvPr/>
          </p:nvSpPr>
          <p:spPr>
            <a:xfrm>
              <a:off x="0" y="-66675"/>
              <a:ext cx="22898488" cy="2717801"/>
            </a:xfrm>
            <a:prstGeom prst="rect">
              <a:avLst/>
            </a:prstGeom>
          </p:spPr>
          <p:txBody>
            <a:bodyPr anchor="ctr" rtlCol="false" tIns="0" lIns="0" bIns="0" rIns="0"/>
            <a:lstStyle/>
            <a:p>
              <a:pPr algn="l">
                <a:lnSpc>
                  <a:spcPts val="7128"/>
                </a:lnSpc>
              </a:pPr>
              <a:r>
                <a:rPr lang="en-US" b="true" sz="6600">
                  <a:solidFill>
                    <a:srgbClr val="FF0000"/>
                  </a:solidFill>
                  <a:latin typeface="Calibri (MS) Bold"/>
                  <a:ea typeface="Calibri (MS) Bold"/>
                  <a:cs typeface="Calibri (MS) Bold"/>
                  <a:sym typeface="Calibri (MS) Bold"/>
                </a:rPr>
                <a:t>Introduction</a:t>
              </a:r>
            </a:p>
          </p:txBody>
        </p:sp>
      </p:grpSp>
      <p:sp>
        <p:nvSpPr>
          <p:cNvPr name="TextBox 7" id="7"/>
          <p:cNvSpPr txBox="true"/>
          <p:nvPr/>
        </p:nvSpPr>
        <p:spPr>
          <a:xfrm rot="0">
            <a:off x="565230" y="2924536"/>
            <a:ext cx="17173866" cy="2961386"/>
          </a:xfrm>
          <a:prstGeom prst="rect">
            <a:avLst/>
          </a:prstGeom>
        </p:spPr>
        <p:txBody>
          <a:bodyPr anchor="t" rtlCol="false" tIns="0" lIns="0" bIns="0" rIns="0">
            <a:spAutoFit/>
          </a:bodyPr>
          <a:lstStyle/>
          <a:p>
            <a:pPr algn="l">
              <a:lnSpc>
                <a:spcPts val="3891"/>
              </a:lnSpc>
            </a:pPr>
            <a:r>
              <a:rPr lang="en-US" sz="2799">
                <a:solidFill>
                  <a:srgbClr val="000000"/>
                </a:solidFill>
                <a:latin typeface="Calibri (MS)"/>
                <a:ea typeface="Calibri (MS)"/>
                <a:cs typeface="Calibri (MS)"/>
                <a:sym typeface="Calibri (MS)"/>
              </a:rPr>
              <a:t>The cryptocurrency market contains thousands of digital assets, each with unique price movements and trading behavior. Due to the large volume of data, it becomes challenging to identify patterns and trends manually.This project focuses on analyzing cryptocurrency market data using Exploratory Data Analysis (EDA) techniques. By examining price distributions, market capitalization, and trading volume patterns, we aim to uncover meaningful insights about the cryptocurrency market.</a:t>
            </a:r>
          </a:p>
          <a:p>
            <a:pPr algn="l">
              <a:lnSpc>
                <a:spcPts val="3891"/>
              </a:lnSpc>
            </a:pPr>
          </a:p>
        </p:txBody>
      </p:sp>
      <p:sp>
        <p:nvSpPr>
          <p:cNvPr name="TextBox 8" id="8"/>
          <p:cNvSpPr txBox="true"/>
          <p:nvPr/>
        </p:nvSpPr>
        <p:spPr>
          <a:xfrm rot="0">
            <a:off x="565230" y="2153011"/>
            <a:ext cx="10686431" cy="514350"/>
          </a:xfrm>
          <a:prstGeom prst="rect">
            <a:avLst/>
          </a:prstGeom>
        </p:spPr>
        <p:txBody>
          <a:bodyPr anchor="t" rtlCol="false" tIns="0" lIns="0" bIns="0" rIns="0">
            <a:spAutoFit/>
          </a:bodyPr>
          <a:lstStyle/>
          <a:p>
            <a:pPr algn="l">
              <a:lnSpc>
                <a:spcPts val="4079"/>
              </a:lnSpc>
            </a:pPr>
            <a:r>
              <a:rPr lang="en-US" sz="3399" b="true">
                <a:solidFill>
                  <a:srgbClr val="000000"/>
                </a:solidFill>
                <a:latin typeface="Helvetica World Bold"/>
                <a:ea typeface="Helvetica World Bold"/>
                <a:cs typeface="Helvetica World Bold"/>
                <a:sym typeface="Helvetica World Bold"/>
              </a:rPr>
              <a:t>Problem Statement</a:t>
            </a:r>
          </a:p>
        </p:txBody>
      </p:sp>
      <p:grpSp>
        <p:nvGrpSpPr>
          <p:cNvPr name="Group 9" id="9"/>
          <p:cNvGrpSpPr/>
          <p:nvPr/>
        </p:nvGrpSpPr>
        <p:grpSpPr>
          <a:xfrm rot="0">
            <a:off x="557067" y="5143500"/>
            <a:ext cx="17173866" cy="1988344"/>
            <a:chOff x="0" y="0"/>
            <a:chExt cx="22898488" cy="2651126"/>
          </a:xfrm>
        </p:grpSpPr>
        <p:sp>
          <p:nvSpPr>
            <p:cNvPr name="Freeform 10" id="10"/>
            <p:cNvSpPr/>
            <p:nvPr/>
          </p:nvSpPr>
          <p:spPr>
            <a:xfrm flipH="false" flipV="false" rot="0">
              <a:off x="0" y="0"/>
              <a:ext cx="22898488" cy="2651127"/>
            </a:xfrm>
            <a:custGeom>
              <a:avLst/>
              <a:gdLst/>
              <a:ahLst/>
              <a:cxnLst/>
              <a:rect r="r" b="b" t="t" l="l"/>
              <a:pathLst>
                <a:path h="2651127" w="22898488">
                  <a:moveTo>
                    <a:pt x="0" y="0"/>
                  </a:moveTo>
                  <a:lnTo>
                    <a:pt x="22898488" y="0"/>
                  </a:lnTo>
                  <a:lnTo>
                    <a:pt x="22898488" y="2651127"/>
                  </a:lnTo>
                  <a:lnTo>
                    <a:pt x="0" y="2651127"/>
                  </a:lnTo>
                  <a:close/>
                </a:path>
              </a:pathLst>
            </a:custGeom>
            <a:blipFill>
              <a:blip r:embed="rId4">
                <a:alphaModFix amt="0"/>
              </a:blip>
              <a:stretch>
                <a:fillRect l="0" t="-104573" r="8154" b="-104573"/>
              </a:stretch>
            </a:blipFill>
          </p:spPr>
        </p:sp>
        <p:sp>
          <p:nvSpPr>
            <p:cNvPr name="TextBox 11" id="11"/>
            <p:cNvSpPr txBox="true"/>
            <p:nvPr/>
          </p:nvSpPr>
          <p:spPr>
            <a:xfrm>
              <a:off x="0" y="-66675"/>
              <a:ext cx="22898488" cy="2717801"/>
            </a:xfrm>
            <a:prstGeom prst="rect">
              <a:avLst/>
            </a:prstGeom>
          </p:spPr>
          <p:txBody>
            <a:bodyPr anchor="ctr" rtlCol="false" tIns="0" lIns="0" bIns="0" rIns="0"/>
            <a:lstStyle/>
            <a:p>
              <a:pPr algn="l">
                <a:lnSpc>
                  <a:spcPts val="7128"/>
                </a:lnSpc>
              </a:pPr>
              <a:r>
                <a:rPr lang="en-US" b="true" sz="6600">
                  <a:solidFill>
                    <a:srgbClr val="FF0000"/>
                  </a:solidFill>
                  <a:latin typeface="Calibri (MS) Bold"/>
                  <a:ea typeface="Calibri (MS) Bold"/>
                  <a:cs typeface="Calibri (MS) Bold"/>
                  <a:sym typeface="Calibri (MS) Bold"/>
                </a:rPr>
                <a:t>Why this Project?</a:t>
              </a:r>
            </a:p>
          </p:txBody>
        </p:sp>
      </p:grpSp>
      <p:sp>
        <p:nvSpPr>
          <p:cNvPr name="TextBox 12" id="12"/>
          <p:cNvSpPr txBox="true"/>
          <p:nvPr/>
        </p:nvSpPr>
        <p:spPr>
          <a:xfrm rot="0">
            <a:off x="565230" y="6603328"/>
            <a:ext cx="17173866" cy="3447161"/>
          </a:xfrm>
          <a:prstGeom prst="rect">
            <a:avLst/>
          </a:prstGeom>
        </p:spPr>
        <p:txBody>
          <a:bodyPr anchor="t" rtlCol="false" tIns="0" lIns="0" bIns="0" rIns="0">
            <a:spAutoFit/>
          </a:bodyPr>
          <a:lstStyle/>
          <a:p>
            <a:pPr algn="l">
              <a:lnSpc>
                <a:spcPts val="3891"/>
              </a:lnSpc>
            </a:pPr>
            <a:r>
              <a:rPr lang="en-US" sz="2799">
                <a:solidFill>
                  <a:srgbClr val="000000"/>
                </a:solidFill>
                <a:latin typeface="Calibri (MS)"/>
                <a:ea typeface="Calibri (MS)"/>
                <a:cs typeface="Calibri (MS)"/>
                <a:sym typeface="Calibri (MS)"/>
              </a:rPr>
              <a:t>The dataset used in this project was collected from an online cryptocurrency market platform through web scraping techniques.</a:t>
            </a:r>
          </a:p>
          <a:p>
            <a:pPr algn="l">
              <a:lnSpc>
                <a:spcPts val="3891"/>
              </a:lnSpc>
            </a:pPr>
            <a:r>
              <a:rPr lang="en-US" sz="2799">
                <a:solidFill>
                  <a:srgbClr val="000000"/>
                </a:solidFill>
                <a:latin typeface="Calibri (MS)"/>
                <a:ea typeface="Calibri (MS)"/>
                <a:cs typeface="Calibri (MS)"/>
                <a:sym typeface="Calibri (MS)"/>
              </a:rPr>
              <a:t>Instead of relying on pre-existing datasets, the data was gathered directly from the website to simulate a real-world data collection process similar to industry-level data science workflows.</a:t>
            </a:r>
          </a:p>
          <a:p>
            <a:pPr algn="l">
              <a:lnSpc>
                <a:spcPts val="3891"/>
              </a:lnSpc>
            </a:pPr>
            <a:r>
              <a:rPr lang="en-US" sz="2799">
                <a:solidFill>
                  <a:srgbClr val="000000"/>
                </a:solidFill>
                <a:latin typeface="Calibri (MS)"/>
                <a:ea typeface="Calibri (MS)"/>
                <a:cs typeface="Calibri (MS)"/>
                <a:sym typeface="Calibri (MS)"/>
              </a:rPr>
              <a:t>This approach allows us to work with real-time financial market data, making the analysis more practical and meaningful.</a:t>
            </a:r>
          </a:p>
          <a:p>
            <a:pPr algn="l">
              <a:lnSpc>
                <a:spcPts val="3891"/>
              </a:lnSpc>
            </a:pPr>
          </a:p>
        </p:txBody>
      </p:sp>
    </p:spTree>
  </p:cSld>
  <p:clrMapOvr>
    <a:masterClrMapping/>
  </p:clrMapOvr>
  <p:transition spd="slow">
    <p:cover dir="l"/>
  </p:transition>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221348" y="9277474"/>
            <a:ext cx="4838100" cy="1009526"/>
            <a:chOff x="0" y="0"/>
            <a:chExt cx="6450800" cy="1346035"/>
          </a:xfrm>
        </p:grpSpPr>
        <p:sp>
          <p:nvSpPr>
            <p:cNvPr name="Freeform 3" id="3"/>
            <p:cNvSpPr/>
            <p:nvPr/>
          </p:nvSpPr>
          <p:spPr>
            <a:xfrm flipH="false" flipV="false" rot="0">
              <a:off x="0" y="0"/>
              <a:ext cx="6450838" cy="1346073"/>
            </a:xfrm>
            <a:custGeom>
              <a:avLst/>
              <a:gdLst/>
              <a:ahLst/>
              <a:cxnLst/>
              <a:rect r="r" b="b" t="t" l="l"/>
              <a:pathLst>
                <a:path h="1346073" w="6450838">
                  <a:moveTo>
                    <a:pt x="0" y="0"/>
                  </a:moveTo>
                  <a:lnTo>
                    <a:pt x="6450838" y="0"/>
                  </a:lnTo>
                  <a:lnTo>
                    <a:pt x="6450838" y="1346073"/>
                  </a:lnTo>
                  <a:lnTo>
                    <a:pt x="0" y="1346073"/>
                  </a:lnTo>
                  <a:lnTo>
                    <a:pt x="0" y="0"/>
                  </a:lnTo>
                  <a:close/>
                </a:path>
              </a:pathLst>
            </a:custGeom>
            <a:blipFill>
              <a:blip r:embed="rId3"/>
              <a:stretch>
                <a:fillRect l="0" t="0" r="0" b="2"/>
              </a:stretch>
            </a:blipFill>
          </p:spPr>
        </p:sp>
      </p:grpSp>
      <p:grpSp>
        <p:nvGrpSpPr>
          <p:cNvPr name="Group 4" id="4"/>
          <p:cNvGrpSpPr/>
          <p:nvPr/>
        </p:nvGrpSpPr>
        <p:grpSpPr>
          <a:xfrm rot="0">
            <a:off x="565230" y="421842"/>
            <a:ext cx="17173866" cy="1988344"/>
            <a:chOff x="0" y="0"/>
            <a:chExt cx="22898488" cy="2651126"/>
          </a:xfrm>
        </p:grpSpPr>
        <p:sp>
          <p:nvSpPr>
            <p:cNvPr name="Freeform 5" id="5"/>
            <p:cNvSpPr/>
            <p:nvPr/>
          </p:nvSpPr>
          <p:spPr>
            <a:xfrm flipH="false" flipV="false" rot="0">
              <a:off x="0" y="0"/>
              <a:ext cx="22898488" cy="2651127"/>
            </a:xfrm>
            <a:custGeom>
              <a:avLst/>
              <a:gdLst/>
              <a:ahLst/>
              <a:cxnLst/>
              <a:rect r="r" b="b" t="t" l="l"/>
              <a:pathLst>
                <a:path h="2651127" w="22898488">
                  <a:moveTo>
                    <a:pt x="0" y="0"/>
                  </a:moveTo>
                  <a:lnTo>
                    <a:pt x="22898488" y="0"/>
                  </a:lnTo>
                  <a:lnTo>
                    <a:pt x="22898488" y="2651127"/>
                  </a:lnTo>
                  <a:lnTo>
                    <a:pt x="0" y="2651127"/>
                  </a:lnTo>
                  <a:close/>
                </a:path>
              </a:pathLst>
            </a:custGeom>
            <a:blipFill>
              <a:blip r:embed="rId4">
                <a:alphaModFix amt="0"/>
              </a:blip>
              <a:stretch>
                <a:fillRect l="0" t="-104573" r="8154" b="-104573"/>
              </a:stretch>
            </a:blipFill>
          </p:spPr>
        </p:sp>
        <p:sp>
          <p:nvSpPr>
            <p:cNvPr name="TextBox 6" id="6"/>
            <p:cNvSpPr txBox="true"/>
            <p:nvPr/>
          </p:nvSpPr>
          <p:spPr>
            <a:xfrm>
              <a:off x="0" y="-66675"/>
              <a:ext cx="22898488" cy="2717801"/>
            </a:xfrm>
            <a:prstGeom prst="rect">
              <a:avLst/>
            </a:prstGeom>
          </p:spPr>
          <p:txBody>
            <a:bodyPr anchor="ctr" rtlCol="false" tIns="0" lIns="0" bIns="0" rIns="0"/>
            <a:lstStyle/>
            <a:p>
              <a:pPr algn="l">
                <a:lnSpc>
                  <a:spcPts val="7128"/>
                </a:lnSpc>
              </a:pPr>
              <a:r>
                <a:rPr lang="en-US" b="true" sz="6600">
                  <a:solidFill>
                    <a:srgbClr val="FF0000"/>
                  </a:solidFill>
                  <a:latin typeface="Calibri (MS) Bold"/>
                  <a:ea typeface="Calibri (MS) Bold"/>
                  <a:cs typeface="Calibri (MS) Bold"/>
                  <a:sym typeface="Calibri (MS) Bold"/>
                </a:rPr>
                <a:t>Dataset Information</a:t>
              </a:r>
            </a:p>
          </p:txBody>
        </p:sp>
      </p:grpSp>
      <p:sp>
        <p:nvSpPr>
          <p:cNvPr name="TextBox 7" id="7"/>
          <p:cNvSpPr txBox="true"/>
          <p:nvPr/>
        </p:nvSpPr>
        <p:spPr>
          <a:xfrm rot="0">
            <a:off x="565230" y="2049565"/>
            <a:ext cx="17173866" cy="2866009"/>
          </a:xfrm>
          <a:prstGeom prst="rect">
            <a:avLst/>
          </a:prstGeom>
        </p:spPr>
        <p:txBody>
          <a:bodyPr anchor="t" rtlCol="false" tIns="0" lIns="0" bIns="0" rIns="0">
            <a:spAutoFit/>
          </a:bodyPr>
          <a:lstStyle/>
          <a:p>
            <a:pPr algn="l" marL="690879" indent="-345439" lvl="1">
              <a:lnSpc>
                <a:spcPts val="4447"/>
              </a:lnSpc>
              <a:buFont typeface="Arial"/>
              <a:buChar char="•"/>
            </a:pPr>
            <a:r>
              <a:rPr lang="en-US" b="true" sz="3199">
                <a:solidFill>
                  <a:srgbClr val="000000"/>
                </a:solidFill>
                <a:latin typeface="Calibri (MS) Bold"/>
                <a:ea typeface="Calibri (MS) Bold"/>
                <a:cs typeface="Calibri (MS) Bold"/>
                <a:sym typeface="Calibri (MS) Bold"/>
              </a:rPr>
              <a:t>Dataset</a:t>
            </a:r>
            <a:r>
              <a:rPr lang="en-US" sz="3199">
                <a:solidFill>
                  <a:srgbClr val="000000"/>
                </a:solidFill>
                <a:latin typeface="Calibri (MS)"/>
                <a:ea typeface="Calibri (MS)"/>
                <a:cs typeface="Calibri (MS)"/>
                <a:sym typeface="Calibri (MS)"/>
              </a:rPr>
              <a:t>: coin_market_analysis</a:t>
            </a:r>
          </a:p>
          <a:p>
            <a:pPr algn="l" marL="690879" indent="-345439" lvl="1">
              <a:lnSpc>
                <a:spcPts val="4447"/>
              </a:lnSpc>
              <a:buFont typeface="Arial"/>
              <a:buChar char="•"/>
            </a:pPr>
            <a:r>
              <a:rPr lang="en-US" b="true" sz="3199">
                <a:solidFill>
                  <a:srgbClr val="000000"/>
                </a:solidFill>
                <a:latin typeface="Calibri (MS) Bold"/>
                <a:ea typeface="Calibri (MS) Bold"/>
                <a:cs typeface="Calibri (MS) Bold"/>
                <a:sym typeface="Calibri (MS) Bold"/>
              </a:rPr>
              <a:t>Source</a:t>
            </a:r>
            <a:r>
              <a:rPr lang="en-US" sz="3199">
                <a:solidFill>
                  <a:srgbClr val="000000"/>
                </a:solidFill>
                <a:latin typeface="Calibri (MS)"/>
                <a:ea typeface="Calibri (MS)"/>
                <a:cs typeface="Calibri (MS)"/>
                <a:sym typeface="Calibri (MS)"/>
              </a:rPr>
              <a:t>: </a:t>
            </a:r>
            <a:r>
              <a:rPr lang="en-US" sz="3199" u="sng">
                <a:solidFill>
                  <a:srgbClr val="000000"/>
                </a:solidFill>
                <a:latin typeface="Calibri (MS)"/>
                <a:ea typeface="Calibri (MS)"/>
                <a:cs typeface="Calibri (MS)"/>
                <a:sym typeface="Calibri (MS)"/>
                <a:hlinkClick r:id="rId5" tooltip="https://coinmarketcap.com"/>
              </a:rPr>
              <a:t>coinmarketcap.com</a:t>
            </a:r>
          </a:p>
          <a:p>
            <a:pPr algn="l" marL="690879" indent="-345439" lvl="1">
              <a:lnSpc>
                <a:spcPts val="4447"/>
              </a:lnSpc>
              <a:buFont typeface="Arial"/>
              <a:buChar char="•"/>
            </a:pPr>
            <a:r>
              <a:rPr lang="en-US" b="true" sz="3199">
                <a:solidFill>
                  <a:srgbClr val="000000"/>
                </a:solidFill>
                <a:latin typeface="Calibri (MS) Bold"/>
                <a:ea typeface="Calibri (MS) Bold"/>
                <a:cs typeface="Calibri (MS) Bold"/>
                <a:sym typeface="Calibri (MS) Bold"/>
              </a:rPr>
              <a:t>Description</a:t>
            </a:r>
            <a:r>
              <a:rPr lang="en-US" sz="3199">
                <a:solidFill>
                  <a:srgbClr val="000000"/>
                </a:solidFill>
                <a:latin typeface="Calibri (MS)"/>
                <a:ea typeface="Calibri (MS)"/>
                <a:cs typeface="Calibri (MS)"/>
                <a:sym typeface="Calibri (MS)"/>
              </a:rPr>
              <a:t>: The dataset contains information about different cryptocurrencies and their market performance.</a:t>
            </a:r>
          </a:p>
          <a:p>
            <a:pPr algn="l">
              <a:lnSpc>
                <a:spcPts val="4447"/>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1028700"/>
            <a:ext cx="17173866" cy="1988344"/>
            <a:chOff x="0" y="0"/>
            <a:chExt cx="22898488" cy="2651126"/>
          </a:xfrm>
        </p:grpSpPr>
        <p:sp>
          <p:nvSpPr>
            <p:cNvPr name="Freeform 3" id="3"/>
            <p:cNvSpPr/>
            <p:nvPr/>
          </p:nvSpPr>
          <p:spPr>
            <a:xfrm flipH="false" flipV="false" rot="0">
              <a:off x="0" y="0"/>
              <a:ext cx="22898488" cy="2651127"/>
            </a:xfrm>
            <a:custGeom>
              <a:avLst/>
              <a:gdLst/>
              <a:ahLst/>
              <a:cxnLst/>
              <a:rect r="r" b="b" t="t" l="l"/>
              <a:pathLst>
                <a:path h="2651127" w="22898488">
                  <a:moveTo>
                    <a:pt x="0" y="0"/>
                  </a:moveTo>
                  <a:lnTo>
                    <a:pt x="22898488" y="0"/>
                  </a:lnTo>
                  <a:lnTo>
                    <a:pt x="22898488" y="2651127"/>
                  </a:lnTo>
                  <a:lnTo>
                    <a:pt x="0" y="2651127"/>
                  </a:lnTo>
                  <a:close/>
                </a:path>
              </a:pathLst>
            </a:custGeom>
            <a:blipFill>
              <a:blip r:embed="rId2">
                <a:alphaModFix amt="0"/>
              </a:blip>
              <a:stretch>
                <a:fillRect l="0" t="-104573" r="8154" b="-104573"/>
              </a:stretch>
            </a:blipFill>
          </p:spPr>
        </p:sp>
        <p:sp>
          <p:nvSpPr>
            <p:cNvPr name="TextBox 4" id="4"/>
            <p:cNvSpPr txBox="true"/>
            <p:nvPr/>
          </p:nvSpPr>
          <p:spPr>
            <a:xfrm>
              <a:off x="0" y="-66675"/>
              <a:ext cx="22898488" cy="2717801"/>
            </a:xfrm>
            <a:prstGeom prst="rect">
              <a:avLst/>
            </a:prstGeom>
          </p:spPr>
          <p:txBody>
            <a:bodyPr anchor="ctr" rtlCol="false" tIns="0" lIns="0" bIns="0" rIns="0"/>
            <a:lstStyle/>
            <a:p>
              <a:pPr algn="l">
                <a:lnSpc>
                  <a:spcPts val="7128"/>
                </a:lnSpc>
              </a:pPr>
              <a:r>
                <a:rPr lang="en-US" b="true" sz="6600">
                  <a:solidFill>
                    <a:srgbClr val="FF0000"/>
                  </a:solidFill>
                  <a:latin typeface="Calibri (MS) Bold"/>
                  <a:ea typeface="Calibri (MS) Bold"/>
                  <a:cs typeface="Calibri (MS) Bold"/>
                  <a:sym typeface="Calibri (MS) Bold"/>
                </a:rPr>
                <a:t>Tools &amp; Libraries Used:</a:t>
              </a:r>
            </a:p>
          </p:txBody>
        </p:sp>
      </p:grpSp>
      <p:sp>
        <p:nvSpPr>
          <p:cNvPr name="Freeform 5" id="5"/>
          <p:cNvSpPr/>
          <p:nvPr/>
        </p:nvSpPr>
        <p:spPr>
          <a:xfrm flipH="false" flipV="false" rot="0">
            <a:off x="9407113" y="3258975"/>
            <a:ext cx="7852187" cy="1884525"/>
          </a:xfrm>
          <a:custGeom>
            <a:avLst/>
            <a:gdLst/>
            <a:ahLst/>
            <a:cxnLst/>
            <a:rect r="r" b="b" t="t" l="l"/>
            <a:pathLst>
              <a:path h="1884525" w="7852187">
                <a:moveTo>
                  <a:pt x="0" y="0"/>
                </a:moveTo>
                <a:lnTo>
                  <a:pt x="7852187" y="0"/>
                </a:lnTo>
                <a:lnTo>
                  <a:pt x="7852187" y="1884525"/>
                </a:lnTo>
                <a:lnTo>
                  <a:pt x="0" y="1884525"/>
                </a:lnTo>
                <a:lnTo>
                  <a:pt x="0" y="0"/>
                </a:lnTo>
                <a:close/>
              </a:path>
            </a:pathLst>
          </a:custGeom>
          <a:blipFill>
            <a:blip r:embed="rId3"/>
            <a:stretch>
              <a:fillRect l="0" t="0" r="0" b="0"/>
            </a:stretch>
          </a:blipFill>
        </p:spPr>
      </p:sp>
      <p:sp>
        <p:nvSpPr>
          <p:cNvPr name="Freeform 6" id="6"/>
          <p:cNvSpPr/>
          <p:nvPr/>
        </p:nvSpPr>
        <p:spPr>
          <a:xfrm flipH="false" flipV="false" rot="0">
            <a:off x="1616676" y="7271043"/>
            <a:ext cx="6974605" cy="2327774"/>
          </a:xfrm>
          <a:custGeom>
            <a:avLst/>
            <a:gdLst/>
            <a:ahLst/>
            <a:cxnLst/>
            <a:rect r="r" b="b" t="t" l="l"/>
            <a:pathLst>
              <a:path h="2327774" w="6974605">
                <a:moveTo>
                  <a:pt x="0" y="0"/>
                </a:moveTo>
                <a:lnTo>
                  <a:pt x="6974605" y="0"/>
                </a:lnTo>
                <a:lnTo>
                  <a:pt x="6974605" y="2327774"/>
                </a:lnTo>
                <a:lnTo>
                  <a:pt x="0" y="2327774"/>
                </a:lnTo>
                <a:lnTo>
                  <a:pt x="0" y="0"/>
                </a:lnTo>
                <a:close/>
              </a:path>
            </a:pathLst>
          </a:custGeom>
          <a:blipFill>
            <a:blip r:embed="rId4"/>
            <a:stretch>
              <a:fillRect l="0" t="0" r="0" b="0"/>
            </a:stretch>
          </a:blipFill>
        </p:spPr>
      </p:sp>
      <p:sp>
        <p:nvSpPr>
          <p:cNvPr name="Freeform 7" id="7"/>
          <p:cNvSpPr/>
          <p:nvPr/>
        </p:nvSpPr>
        <p:spPr>
          <a:xfrm flipH="false" flipV="false" rot="0">
            <a:off x="8075453" y="5965842"/>
            <a:ext cx="9183847" cy="3042149"/>
          </a:xfrm>
          <a:custGeom>
            <a:avLst/>
            <a:gdLst/>
            <a:ahLst/>
            <a:cxnLst/>
            <a:rect r="r" b="b" t="t" l="l"/>
            <a:pathLst>
              <a:path h="3042149" w="9183847">
                <a:moveTo>
                  <a:pt x="0" y="0"/>
                </a:moveTo>
                <a:lnTo>
                  <a:pt x="9183847" y="0"/>
                </a:lnTo>
                <a:lnTo>
                  <a:pt x="9183847" y="3042150"/>
                </a:lnTo>
                <a:lnTo>
                  <a:pt x="0" y="3042150"/>
                </a:lnTo>
                <a:lnTo>
                  <a:pt x="0" y="0"/>
                </a:lnTo>
                <a:close/>
              </a:path>
            </a:pathLst>
          </a:custGeom>
          <a:blipFill>
            <a:blip r:embed="rId5"/>
            <a:stretch>
              <a:fillRect l="0" t="0" r="0" b="0"/>
            </a:stretch>
          </a:blipFill>
        </p:spPr>
      </p:sp>
      <p:sp>
        <p:nvSpPr>
          <p:cNvPr name="Freeform 8" id="8"/>
          <p:cNvSpPr/>
          <p:nvPr/>
        </p:nvSpPr>
        <p:spPr>
          <a:xfrm flipH="false" flipV="false" rot="0">
            <a:off x="4212141" y="4201238"/>
            <a:ext cx="3431116" cy="3063496"/>
          </a:xfrm>
          <a:custGeom>
            <a:avLst/>
            <a:gdLst/>
            <a:ahLst/>
            <a:cxnLst/>
            <a:rect r="r" b="b" t="t" l="l"/>
            <a:pathLst>
              <a:path h="3063496" w="3431116">
                <a:moveTo>
                  <a:pt x="0" y="0"/>
                </a:moveTo>
                <a:lnTo>
                  <a:pt x="3431116" y="0"/>
                </a:lnTo>
                <a:lnTo>
                  <a:pt x="3431116" y="3063496"/>
                </a:lnTo>
                <a:lnTo>
                  <a:pt x="0" y="3063496"/>
                </a:lnTo>
                <a:lnTo>
                  <a:pt x="0" y="0"/>
                </a:lnTo>
                <a:close/>
              </a:path>
            </a:pathLst>
          </a:custGeom>
          <a:blipFill>
            <a:blip r:embed="rId6"/>
            <a:stretch>
              <a:fillRect l="0" t="0" r="0" b="0"/>
            </a:stretch>
          </a:blipFill>
        </p:spPr>
      </p:sp>
      <p:sp>
        <p:nvSpPr>
          <p:cNvPr name="Freeform 9" id="9"/>
          <p:cNvSpPr/>
          <p:nvPr/>
        </p:nvSpPr>
        <p:spPr>
          <a:xfrm flipH="false" flipV="false" rot="0">
            <a:off x="1028700" y="3017045"/>
            <a:ext cx="2777771" cy="2777771"/>
          </a:xfrm>
          <a:custGeom>
            <a:avLst/>
            <a:gdLst/>
            <a:ahLst/>
            <a:cxnLst/>
            <a:rect r="r" b="b" t="t" l="l"/>
            <a:pathLst>
              <a:path h="2777771" w="2777771">
                <a:moveTo>
                  <a:pt x="0" y="0"/>
                </a:moveTo>
                <a:lnTo>
                  <a:pt x="2777771" y="0"/>
                </a:lnTo>
                <a:lnTo>
                  <a:pt x="2777771" y="2777771"/>
                </a:lnTo>
                <a:lnTo>
                  <a:pt x="0" y="2777771"/>
                </a:lnTo>
                <a:lnTo>
                  <a:pt x="0" y="0"/>
                </a:lnTo>
                <a:close/>
              </a:path>
            </a:pathLst>
          </a:custGeom>
          <a:blipFill>
            <a:blip r:embed="rId7"/>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447690"/>
            <a:ext cx="17173866" cy="1988344"/>
            <a:chOff x="0" y="0"/>
            <a:chExt cx="22898488" cy="2651126"/>
          </a:xfrm>
        </p:grpSpPr>
        <p:sp>
          <p:nvSpPr>
            <p:cNvPr name="Freeform 3" id="3"/>
            <p:cNvSpPr/>
            <p:nvPr/>
          </p:nvSpPr>
          <p:spPr>
            <a:xfrm flipH="false" flipV="false" rot="0">
              <a:off x="0" y="0"/>
              <a:ext cx="22898488" cy="2651127"/>
            </a:xfrm>
            <a:custGeom>
              <a:avLst/>
              <a:gdLst/>
              <a:ahLst/>
              <a:cxnLst/>
              <a:rect r="r" b="b" t="t" l="l"/>
              <a:pathLst>
                <a:path h="2651127" w="22898488">
                  <a:moveTo>
                    <a:pt x="0" y="0"/>
                  </a:moveTo>
                  <a:lnTo>
                    <a:pt x="22898488" y="0"/>
                  </a:lnTo>
                  <a:lnTo>
                    <a:pt x="22898488" y="2651127"/>
                  </a:lnTo>
                  <a:lnTo>
                    <a:pt x="0" y="2651127"/>
                  </a:lnTo>
                  <a:close/>
                </a:path>
              </a:pathLst>
            </a:custGeom>
            <a:blipFill>
              <a:blip r:embed="rId2">
                <a:alphaModFix amt="0"/>
              </a:blip>
              <a:stretch>
                <a:fillRect l="0" t="-104573" r="8154" b="-104573"/>
              </a:stretch>
            </a:blipFill>
          </p:spPr>
        </p:sp>
        <p:sp>
          <p:nvSpPr>
            <p:cNvPr name="TextBox 4" id="4"/>
            <p:cNvSpPr txBox="true"/>
            <p:nvPr/>
          </p:nvSpPr>
          <p:spPr>
            <a:xfrm>
              <a:off x="0" y="-66675"/>
              <a:ext cx="22898488" cy="2717801"/>
            </a:xfrm>
            <a:prstGeom prst="rect">
              <a:avLst/>
            </a:prstGeom>
          </p:spPr>
          <p:txBody>
            <a:bodyPr anchor="ctr" rtlCol="false" tIns="0" lIns="0" bIns="0" rIns="0"/>
            <a:lstStyle/>
            <a:p>
              <a:pPr algn="l">
                <a:lnSpc>
                  <a:spcPts val="7128"/>
                </a:lnSpc>
              </a:pPr>
              <a:r>
                <a:rPr lang="en-US" b="true" sz="6600">
                  <a:solidFill>
                    <a:srgbClr val="FF0000"/>
                  </a:solidFill>
                  <a:latin typeface="Calibri (MS) Bold"/>
                  <a:ea typeface="Calibri (MS) Bold"/>
                  <a:cs typeface="Calibri (MS) Bold"/>
                  <a:sym typeface="Calibri (MS) Bold"/>
                </a:rPr>
                <a:t>Raw Dataset</a:t>
              </a:r>
            </a:p>
          </p:txBody>
        </p:sp>
      </p:grpSp>
      <p:grpSp>
        <p:nvGrpSpPr>
          <p:cNvPr name="Group 5" id="5"/>
          <p:cNvGrpSpPr/>
          <p:nvPr/>
        </p:nvGrpSpPr>
        <p:grpSpPr>
          <a:xfrm rot="0">
            <a:off x="13221348" y="9267949"/>
            <a:ext cx="4838100" cy="1009526"/>
            <a:chOff x="0" y="0"/>
            <a:chExt cx="6450800" cy="1346035"/>
          </a:xfrm>
        </p:grpSpPr>
        <p:sp>
          <p:nvSpPr>
            <p:cNvPr name="Freeform 6" id="6"/>
            <p:cNvSpPr/>
            <p:nvPr/>
          </p:nvSpPr>
          <p:spPr>
            <a:xfrm flipH="false" flipV="false" rot="0">
              <a:off x="0" y="0"/>
              <a:ext cx="6450838" cy="1346073"/>
            </a:xfrm>
            <a:custGeom>
              <a:avLst/>
              <a:gdLst/>
              <a:ahLst/>
              <a:cxnLst/>
              <a:rect r="r" b="b" t="t" l="l"/>
              <a:pathLst>
                <a:path h="1346073" w="6450838">
                  <a:moveTo>
                    <a:pt x="0" y="0"/>
                  </a:moveTo>
                  <a:lnTo>
                    <a:pt x="6450838" y="0"/>
                  </a:lnTo>
                  <a:lnTo>
                    <a:pt x="6450838" y="1346073"/>
                  </a:lnTo>
                  <a:lnTo>
                    <a:pt x="0" y="1346073"/>
                  </a:lnTo>
                  <a:lnTo>
                    <a:pt x="0" y="0"/>
                  </a:lnTo>
                  <a:close/>
                </a:path>
              </a:pathLst>
            </a:custGeom>
            <a:blipFill>
              <a:blip r:embed="rId3"/>
              <a:stretch>
                <a:fillRect l="0" t="0" r="0" b="2"/>
              </a:stretch>
            </a:blipFill>
          </p:spPr>
        </p:sp>
      </p:grpSp>
      <p:sp>
        <p:nvSpPr>
          <p:cNvPr name="Freeform 7" id="7"/>
          <p:cNvSpPr/>
          <p:nvPr/>
        </p:nvSpPr>
        <p:spPr>
          <a:xfrm flipH="false" flipV="false" rot="0">
            <a:off x="398089" y="3408865"/>
            <a:ext cx="17491822" cy="3442120"/>
          </a:xfrm>
          <a:custGeom>
            <a:avLst/>
            <a:gdLst/>
            <a:ahLst/>
            <a:cxnLst/>
            <a:rect r="r" b="b" t="t" l="l"/>
            <a:pathLst>
              <a:path h="3442120" w="17491822">
                <a:moveTo>
                  <a:pt x="0" y="0"/>
                </a:moveTo>
                <a:lnTo>
                  <a:pt x="17491822" y="0"/>
                </a:lnTo>
                <a:lnTo>
                  <a:pt x="17491822" y="3442120"/>
                </a:lnTo>
                <a:lnTo>
                  <a:pt x="0" y="3442120"/>
                </a:lnTo>
                <a:lnTo>
                  <a:pt x="0" y="0"/>
                </a:lnTo>
                <a:close/>
              </a:path>
            </a:pathLst>
          </a:custGeom>
          <a:blipFill>
            <a:blip r:embed="rId4"/>
            <a:stretch>
              <a:fillRect l="-25248" t="-168403" r="-35979" b="-192461"/>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221348" y="9267949"/>
            <a:ext cx="4838100" cy="1009526"/>
            <a:chOff x="0" y="0"/>
            <a:chExt cx="6450800" cy="1346035"/>
          </a:xfrm>
        </p:grpSpPr>
        <p:sp>
          <p:nvSpPr>
            <p:cNvPr name="Freeform 3" id="3"/>
            <p:cNvSpPr/>
            <p:nvPr/>
          </p:nvSpPr>
          <p:spPr>
            <a:xfrm flipH="false" flipV="false" rot="0">
              <a:off x="0" y="0"/>
              <a:ext cx="6450838" cy="1346073"/>
            </a:xfrm>
            <a:custGeom>
              <a:avLst/>
              <a:gdLst/>
              <a:ahLst/>
              <a:cxnLst/>
              <a:rect r="r" b="b" t="t" l="l"/>
              <a:pathLst>
                <a:path h="1346073" w="6450838">
                  <a:moveTo>
                    <a:pt x="0" y="0"/>
                  </a:moveTo>
                  <a:lnTo>
                    <a:pt x="6450838" y="0"/>
                  </a:lnTo>
                  <a:lnTo>
                    <a:pt x="6450838" y="1346073"/>
                  </a:lnTo>
                  <a:lnTo>
                    <a:pt x="0" y="1346073"/>
                  </a:lnTo>
                  <a:lnTo>
                    <a:pt x="0" y="0"/>
                  </a:lnTo>
                  <a:close/>
                </a:path>
              </a:pathLst>
            </a:custGeom>
            <a:blipFill>
              <a:blip r:embed="rId3"/>
              <a:stretch>
                <a:fillRect l="0" t="0" r="0" b="2"/>
              </a:stretch>
            </a:blipFill>
          </p:spPr>
        </p:sp>
      </p:grpSp>
      <p:grpSp>
        <p:nvGrpSpPr>
          <p:cNvPr name="Group 4" id="4"/>
          <p:cNvGrpSpPr/>
          <p:nvPr/>
        </p:nvGrpSpPr>
        <p:grpSpPr>
          <a:xfrm rot="0">
            <a:off x="1028700" y="1028700"/>
            <a:ext cx="17173866" cy="2235709"/>
            <a:chOff x="0" y="0"/>
            <a:chExt cx="22898488" cy="2980946"/>
          </a:xfrm>
        </p:grpSpPr>
        <p:sp>
          <p:nvSpPr>
            <p:cNvPr name="Freeform 5" id="5"/>
            <p:cNvSpPr/>
            <p:nvPr/>
          </p:nvSpPr>
          <p:spPr>
            <a:xfrm flipH="false" flipV="false" rot="0">
              <a:off x="0" y="0"/>
              <a:ext cx="22898488" cy="2980947"/>
            </a:xfrm>
            <a:custGeom>
              <a:avLst/>
              <a:gdLst/>
              <a:ahLst/>
              <a:cxnLst/>
              <a:rect r="r" b="b" t="t" l="l"/>
              <a:pathLst>
                <a:path h="2980947" w="22898488">
                  <a:moveTo>
                    <a:pt x="0" y="0"/>
                  </a:moveTo>
                  <a:lnTo>
                    <a:pt x="22898488" y="0"/>
                  </a:lnTo>
                  <a:lnTo>
                    <a:pt x="22898488" y="2980947"/>
                  </a:lnTo>
                  <a:lnTo>
                    <a:pt x="0" y="2980947"/>
                  </a:lnTo>
                  <a:close/>
                </a:path>
              </a:pathLst>
            </a:custGeom>
            <a:blipFill>
              <a:blip r:embed="rId4">
                <a:alphaModFix amt="0"/>
              </a:blip>
              <a:stretch>
                <a:fillRect l="0" t="-93003" r="8154" b="-81938"/>
              </a:stretch>
            </a:blipFill>
          </p:spPr>
        </p:sp>
        <p:sp>
          <p:nvSpPr>
            <p:cNvPr name="TextBox 6" id="6"/>
            <p:cNvSpPr txBox="true"/>
            <p:nvPr/>
          </p:nvSpPr>
          <p:spPr>
            <a:xfrm>
              <a:off x="0" y="-66675"/>
              <a:ext cx="22898488" cy="3047621"/>
            </a:xfrm>
            <a:prstGeom prst="rect">
              <a:avLst/>
            </a:prstGeom>
          </p:spPr>
          <p:txBody>
            <a:bodyPr anchor="ctr" rtlCol="false" tIns="0" lIns="0" bIns="0" rIns="0"/>
            <a:lstStyle/>
            <a:p>
              <a:pPr algn="l">
                <a:lnSpc>
                  <a:spcPts val="7128"/>
                </a:lnSpc>
              </a:pPr>
              <a:r>
                <a:rPr lang="en-US" sz="6600" b="true">
                  <a:solidFill>
                    <a:srgbClr val="FF0000"/>
                  </a:solidFill>
                  <a:latin typeface="Calibri (MS) Bold"/>
                  <a:ea typeface="Calibri (MS) Bold"/>
                  <a:cs typeface="Calibri (MS) Bold"/>
                  <a:sym typeface="Calibri (MS) Bold"/>
                </a:rPr>
                <a:t>DATA COLLECTION – API Based Web Scraping</a:t>
              </a:r>
            </a:p>
            <a:p>
              <a:pPr algn="l">
                <a:lnSpc>
                  <a:spcPts val="7128"/>
                </a:lnSpc>
              </a:pPr>
            </a:p>
          </p:txBody>
        </p:sp>
      </p:grpSp>
      <p:sp>
        <p:nvSpPr>
          <p:cNvPr name="TextBox 7" id="7"/>
          <p:cNvSpPr txBox="true"/>
          <p:nvPr/>
        </p:nvSpPr>
        <p:spPr>
          <a:xfrm rot="0">
            <a:off x="1500333" y="2148573"/>
            <a:ext cx="16230600" cy="1742059"/>
          </a:xfrm>
          <a:prstGeom prst="rect">
            <a:avLst/>
          </a:prstGeom>
        </p:spPr>
        <p:txBody>
          <a:bodyPr anchor="t" rtlCol="false" tIns="0" lIns="0" bIns="0" rIns="0">
            <a:spAutoFit/>
          </a:bodyPr>
          <a:lstStyle/>
          <a:p>
            <a:pPr algn="l">
              <a:lnSpc>
                <a:spcPts val="4447"/>
              </a:lnSpc>
            </a:pPr>
            <a:r>
              <a:rPr lang="en-US" sz="3199" b="true">
                <a:solidFill>
                  <a:srgbClr val="000000"/>
                </a:solidFill>
                <a:latin typeface="Calibri (MS) Bold"/>
                <a:ea typeface="Calibri (MS) Bold"/>
                <a:cs typeface="Calibri (MS) Bold"/>
                <a:sym typeface="Calibri (MS) Bold"/>
              </a:rPr>
              <a:t>API Scraping</a:t>
            </a:r>
          </a:p>
          <a:p>
            <a:pPr algn="l" marL="690879" indent="-345439" lvl="1">
              <a:lnSpc>
                <a:spcPts val="4447"/>
              </a:lnSpc>
              <a:buFont typeface="Arial"/>
              <a:buChar char="•"/>
            </a:pPr>
            <a:r>
              <a:rPr lang="en-US" sz="3199">
                <a:solidFill>
                  <a:srgbClr val="000000"/>
                </a:solidFill>
                <a:latin typeface="Calibri (MS)"/>
                <a:ea typeface="Calibri (MS)"/>
                <a:cs typeface="Calibri (MS)"/>
                <a:sym typeface="Calibri (MS)"/>
              </a:rPr>
              <a:t>Th</a:t>
            </a:r>
            <a:r>
              <a:rPr lang="en-US" sz="3199">
                <a:solidFill>
                  <a:srgbClr val="000000"/>
                </a:solidFill>
                <a:latin typeface="Calibri (MS)"/>
                <a:ea typeface="Calibri (MS)"/>
                <a:cs typeface="Calibri (MS)"/>
                <a:sym typeface="Calibri (MS)"/>
              </a:rPr>
              <a:t>e cryptocurrency dataset was collected from the CoinMarketCap website, which provides real-time information about digital asset markets.</a:t>
            </a:r>
          </a:p>
        </p:txBody>
      </p:sp>
      <p:sp>
        <p:nvSpPr>
          <p:cNvPr name="TextBox 8" id="8"/>
          <p:cNvSpPr txBox="true"/>
          <p:nvPr/>
        </p:nvSpPr>
        <p:spPr>
          <a:xfrm rot="0">
            <a:off x="1701681" y="5010150"/>
            <a:ext cx="8529479" cy="3989959"/>
          </a:xfrm>
          <a:prstGeom prst="rect">
            <a:avLst/>
          </a:prstGeom>
        </p:spPr>
        <p:txBody>
          <a:bodyPr anchor="t" rtlCol="false" tIns="0" lIns="0" bIns="0" rIns="0">
            <a:spAutoFit/>
          </a:bodyPr>
          <a:lstStyle/>
          <a:p>
            <a:pPr algn="l" marL="690879" indent="-345439" lvl="1">
              <a:lnSpc>
                <a:spcPts val="4447"/>
              </a:lnSpc>
              <a:buAutoNum type="arabicPeriod" startAt="1"/>
            </a:pPr>
            <a:r>
              <a:rPr lang="en-US" sz="3199">
                <a:solidFill>
                  <a:srgbClr val="000000"/>
                </a:solidFill>
                <a:latin typeface="Calibri (MS)"/>
                <a:ea typeface="Calibri (MS)"/>
                <a:cs typeface="Calibri (MS)"/>
                <a:sym typeface="Calibri (MS)"/>
              </a:rPr>
              <a:t>Cryptocurrency rank</a:t>
            </a:r>
          </a:p>
          <a:p>
            <a:pPr algn="l" marL="690879" indent="-345439" lvl="1">
              <a:lnSpc>
                <a:spcPts val="4447"/>
              </a:lnSpc>
              <a:buAutoNum type="arabicPeriod" startAt="1"/>
            </a:pPr>
            <a:r>
              <a:rPr lang="en-US" sz="3199">
                <a:solidFill>
                  <a:srgbClr val="000000"/>
                </a:solidFill>
                <a:latin typeface="Calibri (MS)"/>
                <a:ea typeface="Calibri (MS)"/>
                <a:cs typeface="Calibri (MS)"/>
                <a:sym typeface="Calibri (MS)"/>
              </a:rPr>
              <a:t>Cryptocurrency name</a:t>
            </a:r>
          </a:p>
          <a:p>
            <a:pPr algn="l" marL="690879" indent="-345439" lvl="1">
              <a:lnSpc>
                <a:spcPts val="4447"/>
              </a:lnSpc>
              <a:buAutoNum type="arabicPeriod" startAt="1"/>
            </a:pPr>
            <a:r>
              <a:rPr lang="en-US" sz="3199">
                <a:solidFill>
                  <a:srgbClr val="000000"/>
                </a:solidFill>
                <a:latin typeface="Calibri (MS)"/>
                <a:ea typeface="Calibri (MS)"/>
                <a:cs typeface="Calibri (MS)"/>
                <a:sym typeface="Calibri (MS)"/>
              </a:rPr>
              <a:t>Trading symbol</a:t>
            </a:r>
          </a:p>
          <a:p>
            <a:pPr algn="l" marL="690879" indent="-345439" lvl="1">
              <a:lnSpc>
                <a:spcPts val="4447"/>
              </a:lnSpc>
              <a:buAutoNum type="arabicPeriod" startAt="1"/>
            </a:pPr>
            <a:r>
              <a:rPr lang="en-US" sz="3199">
                <a:solidFill>
                  <a:srgbClr val="000000"/>
                </a:solidFill>
                <a:latin typeface="Calibri (MS)"/>
                <a:ea typeface="Calibri (MS)"/>
                <a:cs typeface="Calibri (MS)"/>
                <a:sym typeface="Calibri (MS)"/>
              </a:rPr>
              <a:t>Price (USD)</a:t>
            </a:r>
          </a:p>
          <a:p>
            <a:pPr algn="l" marL="690879" indent="-345439" lvl="1">
              <a:lnSpc>
                <a:spcPts val="4447"/>
              </a:lnSpc>
              <a:buAutoNum type="arabicPeriod" startAt="1"/>
            </a:pPr>
            <a:r>
              <a:rPr lang="en-US" sz="3199">
                <a:solidFill>
                  <a:srgbClr val="000000"/>
                </a:solidFill>
                <a:latin typeface="Calibri (MS)"/>
                <a:ea typeface="Calibri (MS)"/>
                <a:cs typeface="Calibri (MS)"/>
                <a:sym typeface="Calibri (MS)"/>
              </a:rPr>
              <a:t>Percentage price changes (1h, 24h, 7d)</a:t>
            </a:r>
          </a:p>
          <a:p>
            <a:pPr algn="l" marL="690879" indent="-345439" lvl="1">
              <a:lnSpc>
                <a:spcPts val="4447"/>
              </a:lnSpc>
              <a:buAutoNum type="arabicPeriod" startAt="1"/>
            </a:pPr>
            <a:r>
              <a:rPr lang="en-US" sz="3199">
                <a:solidFill>
                  <a:srgbClr val="000000"/>
                </a:solidFill>
                <a:latin typeface="Calibri (MS)"/>
                <a:ea typeface="Calibri (MS)"/>
                <a:cs typeface="Calibri (MS)"/>
                <a:sym typeface="Calibri (MS)"/>
              </a:rPr>
              <a:t>Market capitalization</a:t>
            </a:r>
          </a:p>
          <a:p>
            <a:pPr algn="l" marL="690879" indent="-345439" lvl="1">
              <a:lnSpc>
                <a:spcPts val="4447"/>
              </a:lnSpc>
              <a:buAutoNum type="arabicPeriod" startAt="1"/>
            </a:pPr>
            <a:r>
              <a:rPr lang="en-US" sz="3199">
                <a:solidFill>
                  <a:srgbClr val="000000"/>
                </a:solidFill>
                <a:latin typeface="Calibri (MS)"/>
                <a:ea typeface="Calibri (MS)"/>
                <a:cs typeface="Calibri (MS)"/>
                <a:sym typeface="Calibri (MS)"/>
              </a:rPr>
              <a:t>24-hour trading volume</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447690"/>
            <a:ext cx="17173866" cy="1988344"/>
            <a:chOff x="0" y="0"/>
            <a:chExt cx="22898488" cy="2651126"/>
          </a:xfrm>
        </p:grpSpPr>
        <p:sp>
          <p:nvSpPr>
            <p:cNvPr name="Freeform 3" id="3"/>
            <p:cNvSpPr/>
            <p:nvPr/>
          </p:nvSpPr>
          <p:spPr>
            <a:xfrm flipH="false" flipV="false" rot="0">
              <a:off x="0" y="0"/>
              <a:ext cx="22898488" cy="2651127"/>
            </a:xfrm>
            <a:custGeom>
              <a:avLst/>
              <a:gdLst/>
              <a:ahLst/>
              <a:cxnLst/>
              <a:rect r="r" b="b" t="t" l="l"/>
              <a:pathLst>
                <a:path h="2651127" w="22898488">
                  <a:moveTo>
                    <a:pt x="0" y="0"/>
                  </a:moveTo>
                  <a:lnTo>
                    <a:pt x="22898488" y="0"/>
                  </a:lnTo>
                  <a:lnTo>
                    <a:pt x="22898488" y="2651127"/>
                  </a:lnTo>
                  <a:lnTo>
                    <a:pt x="0" y="2651127"/>
                  </a:lnTo>
                  <a:close/>
                </a:path>
              </a:pathLst>
            </a:custGeom>
            <a:blipFill>
              <a:blip r:embed="rId2">
                <a:alphaModFix amt="0"/>
              </a:blip>
              <a:stretch>
                <a:fillRect l="0" t="-104573" r="8154" b="-104573"/>
              </a:stretch>
            </a:blipFill>
          </p:spPr>
        </p:sp>
        <p:sp>
          <p:nvSpPr>
            <p:cNvPr name="TextBox 4" id="4"/>
            <p:cNvSpPr txBox="true"/>
            <p:nvPr/>
          </p:nvSpPr>
          <p:spPr>
            <a:xfrm>
              <a:off x="0" y="-66675"/>
              <a:ext cx="22898488" cy="2717801"/>
            </a:xfrm>
            <a:prstGeom prst="rect">
              <a:avLst/>
            </a:prstGeom>
          </p:spPr>
          <p:txBody>
            <a:bodyPr anchor="ctr" rtlCol="false" tIns="0" lIns="0" bIns="0" rIns="0"/>
            <a:lstStyle/>
            <a:p>
              <a:pPr algn="l">
                <a:lnSpc>
                  <a:spcPts val="7128"/>
                </a:lnSpc>
              </a:pPr>
              <a:r>
                <a:rPr lang="en-US" b="true" sz="6600">
                  <a:solidFill>
                    <a:srgbClr val="FF0000"/>
                  </a:solidFill>
                  <a:latin typeface="Calibri (MS) Bold"/>
                  <a:ea typeface="Calibri (MS) Bold"/>
                  <a:cs typeface="Calibri (MS) Bold"/>
                  <a:sym typeface="Calibri (MS) Bold"/>
                </a:rPr>
                <a:t>Dataset Overview</a:t>
              </a:r>
            </a:p>
          </p:txBody>
        </p:sp>
      </p:grpSp>
      <p:sp>
        <p:nvSpPr>
          <p:cNvPr name="Freeform 5" id="5"/>
          <p:cNvSpPr/>
          <p:nvPr/>
        </p:nvSpPr>
        <p:spPr>
          <a:xfrm flipH="false" flipV="false" rot="0">
            <a:off x="9615633" y="2606579"/>
            <a:ext cx="7999955" cy="6179808"/>
          </a:xfrm>
          <a:custGeom>
            <a:avLst/>
            <a:gdLst/>
            <a:ahLst/>
            <a:cxnLst/>
            <a:rect r="r" b="b" t="t" l="l"/>
            <a:pathLst>
              <a:path h="6179808" w="7999955">
                <a:moveTo>
                  <a:pt x="0" y="0"/>
                </a:moveTo>
                <a:lnTo>
                  <a:pt x="7999955" y="0"/>
                </a:lnTo>
                <a:lnTo>
                  <a:pt x="7999955" y="6179808"/>
                </a:lnTo>
                <a:lnTo>
                  <a:pt x="0" y="6179808"/>
                </a:lnTo>
                <a:lnTo>
                  <a:pt x="0" y="0"/>
                </a:lnTo>
                <a:close/>
              </a:path>
            </a:pathLst>
          </a:custGeom>
          <a:blipFill>
            <a:blip r:embed="rId3"/>
            <a:stretch>
              <a:fillRect l="-60408" t="-81413" r="-262320" b="-126405"/>
            </a:stretch>
          </a:blipFill>
        </p:spPr>
      </p:sp>
      <p:sp>
        <p:nvSpPr>
          <p:cNvPr name="TextBox 6" id="6"/>
          <p:cNvSpPr txBox="true"/>
          <p:nvPr/>
        </p:nvSpPr>
        <p:spPr>
          <a:xfrm rot="0">
            <a:off x="652614" y="1948714"/>
            <a:ext cx="9140199" cy="7924163"/>
          </a:xfrm>
          <a:prstGeom prst="rect">
            <a:avLst/>
          </a:prstGeom>
        </p:spPr>
        <p:txBody>
          <a:bodyPr anchor="t" rtlCol="false" tIns="0" lIns="0" bIns="0" rIns="0">
            <a:spAutoFit/>
          </a:bodyPr>
          <a:lstStyle/>
          <a:p>
            <a:pPr algn="l">
              <a:lnSpc>
                <a:spcPts val="4426"/>
              </a:lnSpc>
            </a:pPr>
            <a:r>
              <a:rPr lang="en-US" sz="3184">
                <a:solidFill>
                  <a:srgbClr val="000000"/>
                </a:solidFill>
                <a:latin typeface="Calibri (MS)"/>
                <a:ea typeface="Calibri (MS)"/>
                <a:cs typeface="Calibri (MS)"/>
                <a:sym typeface="Calibri (MS)"/>
              </a:rPr>
              <a:t>The dataset contains:</a:t>
            </a:r>
          </a:p>
          <a:p>
            <a:pPr algn="l" marL="687488" indent="-343744" lvl="1">
              <a:lnSpc>
                <a:spcPts val="4426"/>
              </a:lnSpc>
              <a:buFont typeface="Arial"/>
              <a:buChar char="•"/>
            </a:pPr>
            <a:r>
              <a:rPr lang="en-US" sz="3184">
                <a:solidFill>
                  <a:srgbClr val="000000"/>
                </a:solidFill>
                <a:latin typeface="Calibri (MS)"/>
                <a:ea typeface="Calibri (MS)"/>
                <a:cs typeface="Calibri (MS)"/>
                <a:sym typeface="Calibri (MS)"/>
              </a:rPr>
              <a:t>1000 cryptocurrency records</a:t>
            </a:r>
          </a:p>
          <a:p>
            <a:pPr algn="l" marL="687488" indent="-343744" lvl="1">
              <a:lnSpc>
                <a:spcPts val="4426"/>
              </a:lnSpc>
              <a:buFont typeface="Arial"/>
              <a:buChar char="•"/>
            </a:pPr>
            <a:r>
              <a:rPr lang="en-US" sz="3184">
                <a:solidFill>
                  <a:srgbClr val="000000"/>
                </a:solidFill>
                <a:latin typeface="Calibri (MS)"/>
                <a:ea typeface="Calibri (MS)"/>
                <a:cs typeface="Calibri (MS)"/>
                <a:sym typeface="Calibri (MS)"/>
              </a:rPr>
              <a:t>9 columns represen</a:t>
            </a:r>
            <a:r>
              <a:rPr lang="en-US" sz="3184">
                <a:solidFill>
                  <a:srgbClr val="000000"/>
                </a:solidFill>
                <a:latin typeface="Calibri (MS)"/>
                <a:ea typeface="Calibri (MS)"/>
                <a:cs typeface="Calibri (MS)"/>
                <a:sym typeface="Calibri (MS)"/>
              </a:rPr>
              <a:t>ting key market metrics</a:t>
            </a:r>
          </a:p>
          <a:p>
            <a:pPr algn="l">
              <a:lnSpc>
                <a:spcPts val="4426"/>
              </a:lnSpc>
            </a:pPr>
          </a:p>
          <a:p>
            <a:pPr algn="l" marL="687488" indent="-343744" lvl="1">
              <a:lnSpc>
                <a:spcPts val="4426"/>
              </a:lnSpc>
              <a:buFont typeface="Arial"/>
              <a:buChar char="•"/>
            </a:pPr>
            <a:r>
              <a:rPr lang="en-US" sz="3184">
                <a:solidFill>
                  <a:srgbClr val="000000"/>
                </a:solidFill>
                <a:latin typeface="Calibri (MS)"/>
                <a:ea typeface="Calibri (MS)"/>
                <a:cs typeface="Calibri (MS)"/>
                <a:sym typeface="Calibri (MS)"/>
              </a:rPr>
              <a:t>R</a:t>
            </a:r>
            <a:r>
              <a:rPr lang="en-US" sz="3184">
                <a:solidFill>
                  <a:srgbClr val="000000"/>
                </a:solidFill>
                <a:latin typeface="Calibri (MS)"/>
                <a:ea typeface="Calibri (MS)"/>
                <a:cs typeface="Calibri (MS)"/>
                <a:sym typeface="Calibri (MS)"/>
              </a:rPr>
              <a:t>ank</a:t>
            </a:r>
          </a:p>
          <a:p>
            <a:pPr algn="l" marL="687488" indent="-343744" lvl="1">
              <a:lnSpc>
                <a:spcPts val="4426"/>
              </a:lnSpc>
              <a:buFont typeface="Arial"/>
              <a:buChar char="•"/>
            </a:pPr>
            <a:r>
              <a:rPr lang="en-US" sz="3184">
                <a:solidFill>
                  <a:srgbClr val="000000"/>
                </a:solidFill>
                <a:latin typeface="Calibri (MS)"/>
                <a:ea typeface="Calibri (MS)"/>
                <a:cs typeface="Calibri (MS)"/>
                <a:sym typeface="Calibri (MS)"/>
              </a:rPr>
              <a:t>N</a:t>
            </a:r>
            <a:r>
              <a:rPr lang="en-US" sz="3184">
                <a:solidFill>
                  <a:srgbClr val="000000"/>
                </a:solidFill>
                <a:latin typeface="Calibri (MS)"/>
                <a:ea typeface="Calibri (MS)"/>
                <a:cs typeface="Calibri (MS)"/>
                <a:sym typeface="Calibri (MS)"/>
              </a:rPr>
              <a:t>ame</a:t>
            </a:r>
          </a:p>
          <a:p>
            <a:pPr algn="l" marL="687488" indent="-343744" lvl="1">
              <a:lnSpc>
                <a:spcPts val="4426"/>
              </a:lnSpc>
              <a:buFont typeface="Arial"/>
              <a:buChar char="•"/>
            </a:pPr>
            <a:r>
              <a:rPr lang="en-US" sz="3184">
                <a:solidFill>
                  <a:srgbClr val="000000"/>
                </a:solidFill>
                <a:latin typeface="Calibri (MS)"/>
                <a:ea typeface="Calibri (MS)"/>
                <a:cs typeface="Calibri (MS)"/>
                <a:sym typeface="Calibri (MS)"/>
              </a:rPr>
              <a:t>S</a:t>
            </a:r>
            <a:r>
              <a:rPr lang="en-US" sz="3184">
                <a:solidFill>
                  <a:srgbClr val="000000"/>
                </a:solidFill>
                <a:latin typeface="Calibri (MS)"/>
                <a:ea typeface="Calibri (MS)"/>
                <a:cs typeface="Calibri (MS)"/>
                <a:sym typeface="Calibri (MS)"/>
              </a:rPr>
              <a:t>ymbol</a:t>
            </a:r>
          </a:p>
          <a:p>
            <a:pPr algn="l" marL="687488" indent="-343744" lvl="1">
              <a:lnSpc>
                <a:spcPts val="4426"/>
              </a:lnSpc>
              <a:buFont typeface="Arial"/>
              <a:buChar char="•"/>
            </a:pPr>
            <a:r>
              <a:rPr lang="en-US" sz="3184">
                <a:solidFill>
                  <a:srgbClr val="000000"/>
                </a:solidFill>
                <a:latin typeface="Calibri (MS)"/>
                <a:ea typeface="Calibri (MS)"/>
                <a:cs typeface="Calibri (MS)"/>
                <a:sym typeface="Calibri (MS)"/>
              </a:rPr>
              <a:t>P</a:t>
            </a:r>
            <a:r>
              <a:rPr lang="en-US" sz="3184">
                <a:solidFill>
                  <a:srgbClr val="000000"/>
                </a:solidFill>
                <a:latin typeface="Calibri (MS)"/>
                <a:ea typeface="Calibri (MS)"/>
                <a:cs typeface="Calibri (MS)"/>
                <a:sym typeface="Calibri (MS)"/>
              </a:rPr>
              <a:t>rice (USD)</a:t>
            </a:r>
          </a:p>
          <a:p>
            <a:pPr algn="l" marL="687488" indent="-343744" lvl="1">
              <a:lnSpc>
                <a:spcPts val="4426"/>
              </a:lnSpc>
              <a:buFont typeface="Arial"/>
              <a:buChar char="•"/>
            </a:pPr>
            <a:r>
              <a:rPr lang="en-US" sz="3184">
                <a:solidFill>
                  <a:srgbClr val="000000"/>
                </a:solidFill>
                <a:latin typeface="Calibri (MS)"/>
                <a:ea typeface="Calibri (MS)"/>
                <a:cs typeface="Calibri (MS)"/>
                <a:sym typeface="Calibri (MS)"/>
              </a:rPr>
              <a:t>Ho</a:t>
            </a:r>
            <a:r>
              <a:rPr lang="en-US" sz="3184">
                <a:solidFill>
                  <a:srgbClr val="000000"/>
                </a:solidFill>
                <a:latin typeface="Calibri (MS)"/>
                <a:ea typeface="Calibri (MS)"/>
                <a:cs typeface="Calibri (MS)"/>
                <a:sym typeface="Calibri (MS)"/>
              </a:rPr>
              <a:t>ur %</a:t>
            </a:r>
          </a:p>
          <a:p>
            <a:pPr algn="l" marL="687488" indent="-343744" lvl="1">
              <a:lnSpc>
                <a:spcPts val="4426"/>
              </a:lnSpc>
              <a:buFont typeface="Arial"/>
              <a:buChar char="•"/>
            </a:pPr>
            <a:r>
              <a:rPr lang="en-US" sz="3184">
                <a:solidFill>
                  <a:srgbClr val="000000"/>
                </a:solidFill>
                <a:latin typeface="Calibri (MS)"/>
                <a:ea typeface="Calibri (MS)"/>
                <a:cs typeface="Calibri (MS)"/>
                <a:sym typeface="Calibri (MS)"/>
              </a:rPr>
              <a:t>Day %</a:t>
            </a:r>
          </a:p>
          <a:p>
            <a:pPr algn="l" marL="687488" indent="-343744" lvl="1">
              <a:lnSpc>
                <a:spcPts val="4426"/>
              </a:lnSpc>
              <a:buFont typeface="Arial"/>
              <a:buChar char="•"/>
            </a:pPr>
            <a:r>
              <a:rPr lang="en-US" sz="3184">
                <a:solidFill>
                  <a:srgbClr val="000000"/>
                </a:solidFill>
                <a:latin typeface="Calibri (MS)"/>
                <a:ea typeface="Calibri (MS)"/>
                <a:cs typeface="Calibri (MS)"/>
                <a:sym typeface="Calibri (MS)"/>
              </a:rPr>
              <a:t>Week %</a:t>
            </a:r>
          </a:p>
          <a:p>
            <a:pPr algn="l" marL="687488" indent="-343744" lvl="1">
              <a:lnSpc>
                <a:spcPts val="4426"/>
              </a:lnSpc>
              <a:buFont typeface="Arial"/>
              <a:buChar char="•"/>
            </a:pPr>
            <a:r>
              <a:rPr lang="en-US" sz="3184">
                <a:solidFill>
                  <a:srgbClr val="000000"/>
                </a:solidFill>
                <a:latin typeface="Calibri (MS)"/>
                <a:ea typeface="Calibri (MS)"/>
                <a:cs typeface="Calibri (MS)"/>
                <a:sym typeface="Calibri (MS)"/>
              </a:rPr>
              <a:t>Market Cap</a:t>
            </a:r>
          </a:p>
          <a:p>
            <a:pPr algn="l" marL="687488" indent="-343744" lvl="1">
              <a:lnSpc>
                <a:spcPts val="4426"/>
              </a:lnSpc>
              <a:buFont typeface="Arial"/>
              <a:buChar char="•"/>
            </a:pPr>
            <a:r>
              <a:rPr lang="en-US" sz="3184">
                <a:solidFill>
                  <a:srgbClr val="000000"/>
                </a:solidFill>
                <a:latin typeface="Calibri (MS)"/>
                <a:ea typeface="Calibri (MS)"/>
                <a:cs typeface="Calibri (MS)"/>
                <a:sym typeface="Calibri (MS)"/>
              </a:rPr>
              <a:t>Volume (24h)</a:t>
            </a:r>
          </a:p>
          <a:p>
            <a:pPr algn="l">
              <a:lnSpc>
                <a:spcPts val="4426"/>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221348" y="9267949"/>
            <a:ext cx="4838100" cy="1009526"/>
            <a:chOff x="0" y="0"/>
            <a:chExt cx="6450800" cy="1346035"/>
          </a:xfrm>
        </p:grpSpPr>
        <p:sp>
          <p:nvSpPr>
            <p:cNvPr name="Freeform 3" id="3"/>
            <p:cNvSpPr/>
            <p:nvPr/>
          </p:nvSpPr>
          <p:spPr>
            <a:xfrm flipH="false" flipV="false" rot="0">
              <a:off x="0" y="0"/>
              <a:ext cx="6450838" cy="1346073"/>
            </a:xfrm>
            <a:custGeom>
              <a:avLst/>
              <a:gdLst/>
              <a:ahLst/>
              <a:cxnLst/>
              <a:rect r="r" b="b" t="t" l="l"/>
              <a:pathLst>
                <a:path h="1346073" w="6450838">
                  <a:moveTo>
                    <a:pt x="0" y="0"/>
                  </a:moveTo>
                  <a:lnTo>
                    <a:pt x="6450838" y="0"/>
                  </a:lnTo>
                  <a:lnTo>
                    <a:pt x="6450838" y="1346073"/>
                  </a:lnTo>
                  <a:lnTo>
                    <a:pt x="0" y="1346073"/>
                  </a:lnTo>
                  <a:lnTo>
                    <a:pt x="0" y="0"/>
                  </a:lnTo>
                  <a:close/>
                </a:path>
              </a:pathLst>
            </a:custGeom>
            <a:blipFill>
              <a:blip r:embed="rId3"/>
              <a:stretch>
                <a:fillRect l="0" t="0" r="0" b="2"/>
              </a:stretch>
            </a:blipFill>
          </p:spPr>
        </p:sp>
      </p:grpSp>
      <p:grpSp>
        <p:nvGrpSpPr>
          <p:cNvPr name="Group 4" id="4"/>
          <p:cNvGrpSpPr/>
          <p:nvPr/>
        </p:nvGrpSpPr>
        <p:grpSpPr>
          <a:xfrm rot="0">
            <a:off x="1019175" y="1028700"/>
            <a:ext cx="17173866" cy="1988344"/>
            <a:chOff x="0" y="0"/>
            <a:chExt cx="22898488" cy="2651126"/>
          </a:xfrm>
        </p:grpSpPr>
        <p:sp>
          <p:nvSpPr>
            <p:cNvPr name="Freeform 5" id="5"/>
            <p:cNvSpPr/>
            <p:nvPr/>
          </p:nvSpPr>
          <p:spPr>
            <a:xfrm flipH="false" flipV="false" rot="0">
              <a:off x="0" y="0"/>
              <a:ext cx="22898488" cy="2651127"/>
            </a:xfrm>
            <a:custGeom>
              <a:avLst/>
              <a:gdLst/>
              <a:ahLst/>
              <a:cxnLst/>
              <a:rect r="r" b="b" t="t" l="l"/>
              <a:pathLst>
                <a:path h="2651127" w="22898488">
                  <a:moveTo>
                    <a:pt x="0" y="0"/>
                  </a:moveTo>
                  <a:lnTo>
                    <a:pt x="22898488" y="0"/>
                  </a:lnTo>
                  <a:lnTo>
                    <a:pt x="22898488" y="2651127"/>
                  </a:lnTo>
                  <a:lnTo>
                    <a:pt x="0" y="2651127"/>
                  </a:lnTo>
                  <a:close/>
                </a:path>
              </a:pathLst>
            </a:custGeom>
            <a:blipFill>
              <a:blip r:embed="rId4">
                <a:alphaModFix amt="0"/>
              </a:blip>
              <a:stretch>
                <a:fillRect l="0" t="-104573" r="8154" b="-104573"/>
              </a:stretch>
            </a:blipFill>
          </p:spPr>
        </p:sp>
        <p:sp>
          <p:nvSpPr>
            <p:cNvPr name="TextBox 6" id="6"/>
            <p:cNvSpPr txBox="true"/>
            <p:nvPr/>
          </p:nvSpPr>
          <p:spPr>
            <a:xfrm>
              <a:off x="0" y="-66675"/>
              <a:ext cx="22898488" cy="2717801"/>
            </a:xfrm>
            <a:prstGeom prst="rect">
              <a:avLst/>
            </a:prstGeom>
          </p:spPr>
          <p:txBody>
            <a:bodyPr anchor="ctr" rtlCol="false" tIns="0" lIns="0" bIns="0" rIns="0"/>
            <a:lstStyle/>
            <a:p>
              <a:pPr algn="l">
                <a:lnSpc>
                  <a:spcPts val="7128"/>
                </a:lnSpc>
              </a:pPr>
              <a:r>
                <a:rPr lang="en-US" b="true" sz="6600">
                  <a:solidFill>
                    <a:srgbClr val="FF0000"/>
                  </a:solidFill>
                  <a:latin typeface="Calibri (MS) Bold"/>
                  <a:ea typeface="Calibri (MS) Bold"/>
                  <a:cs typeface="Calibri (MS) Bold"/>
                  <a:sym typeface="Calibri (MS) Bold"/>
                </a:rPr>
                <a:t>DATA CLEANING</a:t>
              </a:r>
            </a:p>
          </p:txBody>
        </p:sp>
      </p:grpSp>
      <p:sp>
        <p:nvSpPr>
          <p:cNvPr name="Freeform 7" id="7"/>
          <p:cNvSpPr/>
          <p:nvPr/>
        </p:nvSpPr>
        <p:spPr>
          <a:xfrm flipH="false" flipV="false" rot="0">
            <a:off x="12764691" y="2022872"/>
            <a:ext cx="5014845" cy="6924989"/>
          </a:xfrm>
          <a:custGeom>
            <a:avLst/>
            <a:gdLst/>
            <a:ahLst/>
            <a:cxnLst/>
            <a:rect r="r" b="b" t="t" l="l"/>
            <a:pathLst>
              <a:path h="6924989" w="5014845">
                <a:moveTo>
                  <a:pt x="0" y="0"/>
                </a:moveTo>
                <a:lnTo>
                  <a:pt x="5014845" y="0"/>
                </a:lnTo>
                <a:lnTo>
                  <a:pt x="5014845" y="6924989"/>
                </a:lnTo>
                <a:lnTo>
                  <a:pt x="0" y="6924989"/>
                </a:lnTo>
                <a:lnTo>
                  <a:pt x="0" y="0"/>
                </a:lnTo>
                <a:close/>
              </a:path>
            </a:pathLst>
          </a:custGeom>
          <a:blipFill>
            <a:blip r:embed="rId5"/>
            <a:stretch>
              <a:fillRect l="-139734" t="-144690" r="-639359" b="-113403"/>
            </a:stretch>
          </a:blipFill>
        </p:spPr>
      </p:sp>
      <p:sp>
        <p:nvSpPr>
          <p:cNvPr name="TextBox 8" id="8"/>
          <p:cNvSpPr txBox="true"/>
          <p:nvPr/>
        </p:nvSpPr>
        <p:spPr>
          <a:xfrm rot="0">
            <a:off x="1028700" y="2662135"/>
            <a:ext cx="10203658" cy="3789200"/>
          </a:xfrm>
          <a:prstGeom prst="rect">
            <a:avLst/>
          </a:prstGeom>
        </p:spPr>
        <p:txBody>
          <a:bodyPr anchor="t" rtlCol="false" tIns="0" lIns="0" bIns="0" rIns="0">
            <a:spAutoFit/>
          </a:bodyPr>
          <a:lstStyle/>
          <a:p>
            <a:pPr algn="l">
              <a:lnSpc>
                <a:spcPts val="4219"/>
              </a:lnSpc>
            </a:pPr>
            <a:r>
              <a:rPr lang="en-US" sz="3035" b="true">
                <a:solidFill>
                  <a:srgbClr val="000000"/>
                </a:solidFill>
                <a:latin typeface="Calibri (MS) Bold"/>
                <a:ea typeface="Calibri (MS) Bold"/>
                <a:cs typeface="Calibri (MS) Bold"/>
                <a:sym typeface="Calibri (MS) Bold"/>
              </a:rPr>
              <a:t>Data Quality Check</a:t>
            </a:r>
          </a:p>
          <a:p>
            <a:pPr algn="l">
              <a:lnSpc>
                <a:spcPts val="3663"/>
              </a:lnSpc>
            </a:pPr>
            <a:r>
              <a:rPr lang="en-US" sz="2635">
                <a:solidFill>
                  <a:srgbClr val="000000"/>
                </a:solidFill>
                <a:latin typeface="Calibri (MS)"/>
                <a:ea typeface="Calibri (MS)"/>
                <a:cs typeface="Calibri (MS)"/>
                <a:sym typeface="Calibri (MS)"/>
              </a:rPr>
              <a:t>The dataset was checked for:</a:t>
            </a:r>
          </a:p>
          <a:p>
            <a:pPr algn="l" marL="569047" indent="-284523" lvl="1">
              <a:lnSpc>
                <a:spcPts val="3663"/>
              </a:lnSpc>
              <a:buFont typeface="Arial"/>
              <a:buChar char="•"/>
            </a:pPr>
            <a:r>
              <a:rPr lang="en-US" sz="2635">
                <a:solidFill>
                  <a:srgbClr val="000000"/>
                </a:solidFill>
                <a:latin typeface="Calibri (MS)"/>
                <a:ea typeface="Calibri (MS)"/>
                <a:cs typeface="Calibri (MS)"/>
                <a:sym typeface="Calibri (MS)"/>
              </a:rPr>
              <a:t>Missing values</a:t>
            </a:r>
          </a:p>
          <a:p>
            <a:pPr algn="l" marL="569047" indent="-284523" lvl="1">
              <a:lnSpc>
                <a:spcPts val="3663"/>
              </a:lnSpc>
              <a:buFont typeface="Arial"/>
              <a:buChar char="•"/>
            </a:pPr>
            <a:r>
              <a:rPr lang="en-US" sz="2635">
                <a:solidFill>
                  <a:srgbClr val="000000"/>
                </a:solidFill>
                <a:latin typeface="Calibri (MS)"/>
                <a:ea typeface="Calibri (MS)"/>
                <a:cs typeface="Calibri (MS)"/>
                <a:sym typeface="Calibri (MS)"/>
              </a:rPr>
              <a:t>Duplicate rows</a:t>
            </a:r>
          </a:p>
          <a:p>
            <a:pPr algn="l" marL="569047" indent="-284523" lvl="1">
              <a:lnSpc>
                <a:spcPts val="3663"/>
              </a:lnSpc>
              <a:buFont typeface="Arial"/>
              <a:buChar char="•"/>
            </a:pPr>
            <a:r>
              <a:rPr lang="en-US" sz="2635">
                <a:solidFill>
                  <a:srgbClr val="000000"/>
                </a:solidFill>
                <a:latin typeface="Calibri (MS)"/>
                <a:ea typeface="Calibri (MS)"/>
                <a:cs typeface="Calibri (MS)"/>
                <a:sym typeface="Calibri (MS)"/>
              </a:rPr>
              <a:t>Incorrect data types</a:t>
            </a:r>
          </a:p>
          <a:p>
            <a:pPr algn="l" marL="569047" indent="-284523" lvl="1">
              <a:lnSpc>
                <a:spcPts val="3663"/>
              </a:lnSpc>
              <a:buFont typeface="Arial"/>
              <a:buChar char="•"/>
            </a:pPr>
            <a:r>
              <a:rPr lang="en-US" sz="2635">
                <a:solidFill>
                  <a:srgbClr val="000000"/>
                </a:solidFill>
                <a:latin typeface="Calibri (MS)"/>
                <a:ea typeface="Calibri (MS)"/>
                <a:cs typeface="Calibri (MS)"/>
                <a:sym typeface="Calibri (MS)"/>
              </a:rPr>
              <a:t>Formatting inconsistencies</a:t>
            </a:r>
          </a:p>
          <a:p>
            <a:pPr algn="l">
              <a:lnSpc>
                <a:spcPts val="3663"/>
              </a:lnSpc>
            </a:pPr>
            <a:r>
              <a:rPr lang="en-US" sz="2635">
                <a:solidFill>
                  <a:srgbClr val="000000"/>
                </a:solidFill>
                <a:latin typeface="Calibri (MS)"/>
                <a:ea typeface="Calibri (MS)"/>
                <a:cs typeface="Calibri (MS)"/>
                <a:sym typeface="Calibri (MS)"/>
              </a:rPr>
              <a:t>This step ensures the reliability and usability of the dataset.</a:t>
            </a:r>
          </a:p>
          <a:p>
            <a:pPr algn="l">
              <a:lnSpc>
                <a:spcPts val="3663"/>
              </a:lnSpc>
            </a:pPr>
          </a:p>
        </p:txBody>
      </p:sp>
      <p:sp>
        <p:nvSpPr>
          <p:cNvPr name="TextBox 9" id="9"/>
          <p:cNvSpPr txBox="true"/>
          <p:nvPr/>
        </p:nvSpPr>
        <p:spPr>
          <a:xfrm rot="0">
            <a:off x="1028700" y="6327510"/>
            <a:ext cx="10203658" cy="3403374"/>
          </a:xfrm>
          <a:prstGeom prst="rect">
            <a:avLst/>
          </a:prstGeom>
        </p:spPr>
        <p:txBody>
          <a:bodyPr anchor="t" rtlCol="false" tIns="0" lIns="0" bIns="0" rIns="0">
            <a:spAutoFit/>
          </a:bodyPr>
          <a:lstStyle/>
          <a:p>
            <a:pPr algn="l">
              <a:lnSpc>
                <a:spcPts val="4219"/>
              </a:lnSpc>
            </a:pPr>
            <a:r>
              <a:rPr lang="en-US" sz="3035" b="true">
                <a:solidFill>
                  <a:srgbClr val="000000"/>
                </a:solidFill>
                <a:latin typeface="Calibri (MS) Bold"/>
                <a:ea typeface="Calibri (MS) Bold"/>
                <a:cs typeface="Calibri (MS) Bold"/>
                <a:sym typeface="Calibri (MS) Bold"/>
              </a:rPr>
              <a:t>Observation</a:t>
            </a:r>
          </a:p>
          <a:p>
            <a:pPr algn="l">
              <a:lnSpc>
                <a:spcPts val="3669"/>
              </a:lnSpc>
            </a:pPr>
            <a:r>
              <a:rPr lang="en-US" sz="2640">
                <a:solidFill>
                  <a:srgbClr val="000000"/>
                </a:solidFill>
                <a:latin typeface="Calibri (MS)"/>
                <a:ea typeface="Calibri (MS)"/>
                <a:cs typeface="Calibri (MS)"/>
                <a:sym typeface="Calibri (MS)"/>
              </a:rPr>
              <a:t>After performing</a:t>
            </a:r>
            <a:r>
              <a:rPr lang="en-US" sz="2640">
                <a:solidFill>
                  <a:srgbClr val="000000"/>
                </a:solidFill>
                <a:latin typeface="Calibri (MS)"/>
                <a:ea typeface="Calibri (MS)"/>
                <a:cs typeface="Calibri (MS)"/>
                <a:sym typeface="Calibri (MS)"/>
              </a:rPr>
              <a:t> data quality checks:</a:t>
            </a:r>
          </a:p>
          <a:p>
            <a:pPr algn="l" marL="569976" indent="-284988" lvl="1">
              <a:lnSpc>
                <a:spcPts val="3669"/>
              </a:lnSpc>
              <a:buFont typeface="Arial"/>
              <a:buChar char="•"/>
            </a:pPr>
            <a:r>
              <a:rPr lang="en-US" sz="2640">
                <a:solidFill>
                  <a:srgbClr val="000000"/>
                </a:solidFill>
                <a:latin typeface="Calibri (MS)"/>
                <a:ea typeface="Calibri (MS)"/>
                <a:cs typeface="Calibri (MS)"/>
                <a:sym typeface="Calibri (MS)"/>
              </a:rPr>
              <a:t>No m</a:t>
            </a:r>
            <a:r>
              <a:rPr lang="en-US" sz="2640">
                <a:solidFill>
                  <a:srgbClr val="000000"/>
                </a:solidFill>
                <a:latin typeface="Calibri (MS)"/>
                <a:ea typeface="Calibri (MS)"/>
                <a:cs typeface="Calibri (MS)"/>
                <a:sym typeface="Calibri (MS)"/>
              </a:rPr>
              <a:t>issing values were found across the dataset.</a:t>
            </a:r>
          </a:p>
          <a:p>
            <a:pPr algn="l" marL="569976" indent="-284988" lvl="1">
              <a:lnSpc>
                <a:spcPts val="3669"/>
              </a:lnSpc>
              <a:buFont typeface="Arial"/>
              <a:buChar char="•"/>
            </a:pPr>
            <a:r>
              <a:rPr lang="en-US" sz="2640">
                <a:solidFill>
                  <a:srgbClr val="000000"/>
                </a:solidFill>
                <a:latin typeface="Calibri (MS)"/>
                <a:ea typeface="Calibri (MS)"/>
                <a:cs typeface="Calibri (MS)"/>
                <a:sym typeface="Calibri (MS)"/>
              </a:rPr>
              <a:t>No d</a:t>
            </a:r>
            <a:r>
              <a:rPr lang="en-US" sz="2640">
                <a:solidFill>
                  <a:srgbClr val="000000"/>
                </a:solidFill>
                <a:latin typeface="Calibri (MS)"/>
                <a:ea typeface="Calibri (MS)"/>
                <a:cs typeface="Calibri (MS)"/>
                <a:sym typeface="Calibri (MS)"/>
              </a:rPr>
              <a:t>uplicate rows were detected.</a:t>
            </a:r>
          </a:p>
          <a:p>
            <a:pPr algn="l" marL="569976" indent="-284988" lvl="1">
              <a:lnSpc>
                <a:spcPts val="3669"/>
              </a:lnSpc>
              <a:buFont typeface="Arial"/>
              <a:buChar char="•"/>
            </a:pPr>
            <a:r>
              <a:rPr lang="en-US" sz="2640">
                <a:solidFill>
                  <a:srgbClr val="000000"/>
                </a:solidFill>
                <a:latin typeface="Calibri (MS)"/>
                <a:ea typeface="Calibri (MS)"/>
                <a:cs typeface="Calibri (MS)"/>
                <a:sym typeface="Calibri (MS)"/>
              </a:rPr>
              <a:t>All nu</a:t>
            </a:r>
            <a:r>
              <a:rPr lang="en-US" sz="2640">
                <a:solidFill>
                  <a:srgbClr val="000000"/>
                </a:solidFill>
                <a:latin typeface="Calibri (MS)"/>
                <a:ea typeface="Calibri (MS)"/>
                <a:cs typeface="Calibri (MS)"/>
                <a:sym typeface="Calibri (MS)"/>
              </a:rPr>
              <a:t>merical columns were successfully converted into numeric formats.</a:t>
            </a:r>
          </a:p>
          <a:p>
            <a:pPr algn="l">
              <a:lnSpc>
                <a:spcPts val="4219"/>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031083" y="4261552"/>
            <a:ext cx="10225834" cy="1763896"/>
            <a:chOff x="0" y="0"/>
            <a:chExt cx="6485112" cy="1118644"/>
          </a:xfrm>
        </p:grpSpPr>
        <p:sp>
          <p:nvSpPr>
            <p:cNvPr name="Freeform 3" id="3"/>
            <p:cNvSpPr/>
            <p:nvPr/>
          </p:nvSpPr>
          <p:spPr>
            <a:xfrm flipH="false" flipV="false" rot="0">
              <a:off x="0" y="0"/>
              <a:ext cx="6485112" cy="1118645"/>
            </a:xfrm>
            <a:custGeom>
              <a:avLst/>
              <a:gdLst/>
              <a:ahLst/>
              <a:cxnLst/>
              <a:rect r="r" b="b" t="t" l="l"/>
              <a:pathLst>
                <a:path h="1118645" w="6485112">
                  <a:moveTo>
                    <a:pt x="0" y="0"/>
                  </a:moveTo>
                  <a:lnTo>
                    <a:pt x="6485112" y="0"/>
                  </a:lnTo>
                  <a:lnTo>
                    <a:pt x="6485112" y="1118645"/>
                  </a:lnTo>
                  <a:lnTo>
                    <a:pt x="0" y="1118645"/>
                  </a:lnTo>
                  <a:close/>
                </a:path>
              </a:pathLst>
            </a:custGeom>
            <a:blipFill>
              <a:blip r:embed="rId2">
                <a:alphaModFix amt="0"/>
              </a:blip>
              <a:stretch>
                <a:fillRect l="0" t="-247833" r="-224299" b="-384827"/>
              </a:stretch>
            </a:blipFill>
          </p:spPr>
        </p:sp>
        <p:sp>
          <p:nvSpPr>
            <p:cNvPr name="TextBox 4" id="4"/>
            <p:cNvSpPr txBox="true"/>
            <p:nvPr/>
          </p:nvSpPr>
          <p:spPr>
            <a:xfrm>
              <a:off x="0" y="-76200"/>
              <a:ext cx="6485112" cy="1194844"/>
            </a:xfrm>
            <a:prstGeom prst="rect">
              <a:avLst/>
            </a:prstGeom>
          </p:spPr>
          <p:txBody>
            <a:bodyPr anchor="ctr" rtlCol="false" tIns="0" lIns="0" bIns="0" rIns="0"/>
            <a:lstStyle/>
            <a:p>
              <a:pPr algn="l">
                <a:lnSpc>
                  <a:spcPts val="9395"/>
                </a:lnSpc>
              </a:pPr>
              <a:r>
                <a:rPr lang="en-US" b="true" sz="8699">
                  <a:solidFill>
                    <a:srgbClr val="FF0000"/>
                  </a:solidFill>
                  <a:latin typeface="Calibri (MS) Bold"/>
                  <a:ea typeface="Calibri (MS) Bold"/>
                  <a:cs typeface="Calibri (MS) Bold"/>
                  <a:sym typeface="Calibri (MS) Bold"/>
                </a:rPr>
                <a:t>DATA VISUALIZATION</a:t>
              </a:r>
            </a:p>
          </p:txBody>
        </p:sp>
      </p:grpSp>
      <p:grpSp>
        <p:nvGrpSpPr>
          <p:cNvPr name="Group 5" id="5"/>
          <p:cNvGrpSpPr/>
          <p:nvPr/>
        </p:nvGrpSpPr>
        <p:grpSpPr>
          <a:xfrm rot="0">
            <a:off x="13221348" y="9277474"/>
            <a:ext cx="4838100" cy="1009526"/>
            <a:chOff x="0" y="0"/>
            <a:chExt cx="6450800" cy="1346035"/>
          </a:xfrm>
        </p:grpSpPr>
        <p:sp>
          <p:nvSpPr>
            <p:cNvPr name="Freeform 6" id="6"/>
            <p:cNvSpPr/>
            <p:nvPr/>
          </p:nvSpPr>
          <p:spPr>
            <a:xfrm flipH="false" flipV="false" rot="0">
              <a:off x="0" y="0"/>
              <a:ext cx="6450838" cy="1346073"/>
            </a:xfrm>
            <a:custGeom>
              <a:avLst/>
              <a:gdLst/>
              <a:ahLst/>
              <a:cxnLst/>
              <a:rect r="r" b="b" t="t" l="l"/>
              <a:pathLst>
                <a:path h="1346073" w="6450838">
                  <a:moveTo>
                    <a:pt x="0" y="0"/>
                  </a:moveTo>
                  <a:lnTo>
                    <a:pt x="6450838" y="0"/>
                  </a:lnTo>
                  <a:lnTo>
                    <a:pt x="6450838" y="1346073"/>
                  </a:lnTo>
                  <a:lnTo>
                    <a:pt x="0" y="1346073"/>
                  </a:lnTo>
                  <a:lnTo>
                    <a:pt x="0" y="0"/>
                  </a:lnTo>
                  <a:close/>
                </a:path>
              </a:pathLst>
            </a:custGeom>
            <a:blipFill>
              <a:blip r:embed="rId3"/>
              <a:stretch>
                <a:fillRect l="0" t="0" r="0" b="2"/>
              </a:stretch>
            </a:blipFill>
          </p:spPr>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221348" y="9277474"/>
            <a:ext cx="4838100" cy="1009526"/>
            <a:chOff x="0" y="0"/>
            <a:chExt cx="6450800" cy="1346035"/>
          </a:xfrm>
        </p:grpSpPr>
        <p:sp>
          <p:nvSpPr>
            <p:cNvPr name="Freeform 3" id="3"/>
            <p:cNvSpPr/>
            <p:nvPr/>
          </p:nvSpPr>
          <p:spPr>
            <a:xfrm flipH="false" flipV="false" rot="0">
              <a:off x="0" y="0"/>
              <a:ext cx="6450838" cy="1346073"/>
            </a:xfrm>
            <a:custGeom>
              <a:avLst/>
              <a:gdLst/>
              <a:ahLst/>
              <a:cxnLst/>
              <a:rect r="r" b="b" t="t" l="l"/>
              <a:pathLst>
                <a:path h="1346073" w="6450838">
                  <a:moveTo>
                    <a:pt x="0" y="0"/>
                  </a:moveTo>
                  <a:lnTo>
                    <a:pt x="6450838" y="0"/>
                  </a:lnTo>
                  <a:lnTo>
                    <a:pt x="6450838" y="1346073"/>
                  </a:lnTo>
                  <a:lnTo>
                    <a:pt x="0" y="1346073"/>
                  </a:lnTo>
                  <a:lnTo>
                    <a:pt x="0" y="0"/>
                  </a:lnTo>
                  <a:close/>
                </a:path>
              </a:pathLst>
            </a:custGeom>
            <a:blipFill>
              <a:blip r:embed="rId3"/>
              <a:stretch>
                <a:fillRect l="0" t="0" r="0" b="2"/>
              </a:stretch>
            </a:blipFill>
          </p:spPr>
        </p:sp>
      </p:grpSp>
      <p:grpSp>
        <p:nvGrpSpPr>
          <p:cNvPr name="Group 4" id="4"/>
          <p:cNvGrpSpPr/>
          <p:nvPr/>
        </p:nvGrpSpPr>
        <p:grpSpPr>
          <a:xfrm rot="0">
            <a:off x="1028700" y="1028700"/>
            <a:ext cx="17173866" cy="1988344"/>
            <a:chOff x="0" y="0"/>
            <a:chExt cx="22898488" cy="2651126"/>
          </a:xfrm>
        </p:grpSpPr>
        <p:sp>
          <p:nvSpPr>
            <p:cNvPr name="Freeform 5" id="5"/>
            <p:cNvSpPr/>
            <p:nvPr/>
          </p:nvSpPr>
          <p:spPr>
            <a:xfrm flipH="false" flipV="false" rot="0">
              <a:off x="0" y="0"/>
              <a:ext cx="22898488" cy="2651127"/>
            </a:xfrm>
            <a:custGeom>
              <a:avLst/>
              <a:gdLst/>
              <a:ahLst/>
              <a:cxnLst/>
              <a:rect r="r" b="b" t="t" l="l"/>
              <a:pathLst>
                <a:path h="2651127" w="22898488">
                  <a:moveTo>
                    <a:pt x="0" y="0"/>
                  </a:moveTo>
                  <a:lnTo>
                    <a:pt x="22898488" y="0"/>
                  </a:lnTo>
                  <a:lnTo>
                    <a:pt x="22898488" y="2651127"/>
                  </a:lnTo>
                  <a:lnTo>
                    <a:pt x="0" y="2651127"/>
                  </a:lnTo>
                  <a:close/>
                </a:path>
              </a:pathLst>
            </a:custGeom>
            <a:blipFill>
              <a:blip r:embed="rId4">
                <a:alphaModFix amt="0"/>
              </a:blip>
              <a:stretch>
                <a:fillRect l="0" t="-104573" r="8154" b="-104573"/>
              </a:stretch>
            </a:blipFill>
          </p:spPr>
        </p:sp>
        <p:sp>
          <p:nvSpPr>
            <p:cNvPr name="TextBox 6" id="6"/>
            <p:cNvSpPr txBox="true"/>
            <p:nvPr/>
          </p:nvSpPr>
          <p:spPr>
            <a:xfrm>
              <a:off x="0" y="-66675"/>
              <a:ext cx="22898488" cy="2717801"/>
            </a:xfrm>
            <a:prstGeom prst="rect">
              <a:avLst/>
            </a:prstGeom>
          </p:spPr>
          <p:txBody>
            <a:bodyPr anchor="ctr" rtlCol="false" tIns="0" lIns="0" bIns="0" rIns="0"/>
            <a:lstStyle/>
            <a:p>
              <a:pPr algn="l">
                <a:lnSpc>
                  <a:spcPts val="7128"/>
                </a:lnSpc>
              </a:pPr>
              <a:r>
                <a:rPr lang="en-US" b="true" sz="6600">
                  <a:solidFill>
                    <a:srgbClr val="FF0000"/>
                  </a:solidFill>
                  <a:latin typeface="Calibri (MS) Bold"/>
                  <a:ea typeface="Calibri (MS) Bold"/>
                  <a:cs typeface="Calibri (MS) Bold"/>
                  <a:sym typeface="Calibri (MS) Bold"/>
                </a:rPr>
                <a:t> EDA – Univariate Analysis</a:t>
              </a:r>
            </a:p>
          </p:txBody>
        </p:sp>
      </p:grpSp>
      <p:sp>
        <p:nvSpPr>
          <p:cNvPr name="Freeform 7" id="7"/>
          <p:cNvSpPr/>
          <p:nvPr/>
        </p:nvSpPr>
        <p:spPr>
          <a:xfrm flipH="false" flipV="false" rot="0">
            <a:off x="8972458" y="3455423"/>
            <a:ext cx="9106040" cy="5666438"/>
          </a:xfrm>
          <a:custGeom>
            <a:avLst/>
            <a:gdLst/>
            <a:ahLst/>
            <a:cxnLst/>
            <a:rect r="r" b="b" t="t" l="l"/>
            <a:pathLst>
              <a:path h="5666438" w="9106040">
                <a:moveTo>
                  <a:pt x="0" y="0"/>
                </a:moveTo>
                <a:lnTo>
                  <a:pt x="9106040" y="0"/>
                </a:lnTo>
                <a:lnTo>
                  <a:pt x="9106040" y="5666438"/>
                </a:lnTo>
                <a:lnTo>
                  <a:pt x="0" y="5666438"/>
                </a:lnTo>
                <a:lnTo>
                  <a:pt x="0" y="0"/>
                </a:lnTo>
                <a:close/>
              </a:path>
            </a:pathLst>
          </a:custGeom>
          <a:blipFill>
            <a:blip r:embed="rId5"/>
            <a:stretch>
              <a:fillRect l="0" t="0" r="-7288" b="0"/>
            </a:stretch>
          </a:blipFill>
        </p:spPr>
      </p:sp>
      <p:sp>
        <p:nvSpPr>
          <p:cNvPr name="TextBox 8" id="8"/>
          <p:cNvSpPr txBox="true"/>
          <p:nvPr/>
        </p:nvSpPr>
        <p:spPr>
          <a:xfrm rot="0">
            <a:off x="1028700" y="2641315"/>
            <a:ext cx="14850981" cy="658495"/>
          </a:xfrm>
          <a:prstGeom prst="rect">
            <a:avLst/>
          </a:prstGeom>
        </p:spPr>
        <p:txBody>
          <a:bodyPr anchor="t" rtlCol="false" tIns="0" lIns="0" bIns="0" rIns="0">
            <a:spAutoFit/>
          </a:bodyPr>
          <a:lstStyle/>
          <a:p>
            <a:pPr algn="l">
              <a:lnSpc>
                <a:spcPts val="4864"/>
              </a:lnSpc>
            </a:pPr>
            <a:r>
              <a:rPr lang="en-US" sz="3499" b="true">
                <a:solidFill>
                  <a:srgbClr val="000000"/>
                </a:solidFill>
                <a:latin typeface="Calibri (MS) Bold"/>
                <a:ea typeface="Calibri (MS) Bold"/>
                <a:cs typeface="Calibri (MS) Bold"/>
                <a:sym typeface="Calibri (MS) Bold"/>
              </a:rPr>
              <a:t>1. What is the distribution of cryptocurrency prices in the dataset?</a:t>
            </a:r>
          </a:p>
        </p:txBody>
      </p:sp>
      <p:grpSp>
        <p:nvGrpSpPr>
          <p:cNvPr name="Group 9" id="9"/>
          <p:cNvGrpSpPr/>
          <p:nvPr/>
        </p:nvGrpSpPr>
        <p:grpSpPr>
          <a:xfrm rot="0">
            <a:off x="1028700" y="3759457"/>
            <a:ext cx="9035328" cy="4341368"/>
            <a:chOff x="0" y="0"/>
            <a:chExt cx="12047104" cy="5788491"/>
          </a:xfrm>
        </p:grpSpPr>
        <p:sp>
          <p:nvSpPr>
            <p:cNvPr name="TextBox 10" id="10"/>
            <p:cNvSpPr txBox="true"/>
            <p:nvPr/>
          </p:nvSpPr>
          <p:spPr>
            <a:xfrm rot="0">
              <a:off x="0" y="-133350"/>
              <a:ext cx="3701000" cy="779695"/>
            </a:xfrm>
            <a:prstGeom prst="rect">
              <a:avLst/>
            </a:prstGeom>
          </p:spPr>
          <p:txBody>
            <a:bodyPr anchor="t" rtlCol="false" tIns="0" lIns="0" bIns="0" rIns="0">
              <a:spAutoFit/>
            </a:bodyPr>
            <a:lstStyle/>
            <a:p>
              <a:pPr algn="l">
                <a:lnSpc>
                  <a:spcPts val="4447"/>
                </a:lnSpc>
              </a:pPr>
              <a:r>
                <a:rPr lang="en-US" sz="3199" b="true">
                  <a:solidFill>
                    <a:srgbClr val="000000"/>
                  </a:solidFill>
                  <a:latin typeface="Calibri (MS) Bold"/>
                  <a:ea typeface="Calibri (MS) Bold"/>
                  <a:cs typeface="Calibri (MS) Bold"/>
                  <a:sym typeface="Calibri (MS) Bold"/>
                </a:rPr>
                <a:t>Observations:</a:t>
              </a:r>
            </a:p>
          </p:txBody>
        </p:sp>
        <p:sp>
          <p:nvSpPr>
            <p:cNvPr name="TextBox 11" id="11"/>
            <p:cNvSpPr txBox="true"/>
            <p:nvPr/>
          </p:nvSpPr>
          <p:spPr>
            <a:xfrm rot="0">
              <a:off x="0" y="512995"/>
              <a:ext cx="12047104" cy="5275495"/>
            </a:xfrm>
            <a:prstGeom prst="rect">
              <a:avLst/>
            </a:prstGeom>
          </p:spPr>
          <p:txBody>
            <a:bodyPr anchor="t" rtlCol="false" tIns="0" lIns="0" bIns="0" rIns="0">
              <a:spAutoFit/>
            </a:bodyPr>
            <a:lstStyle/>
            <a:p>
              <a:pPr algn="l" marL="690879" indent="-345439" lvl="1">
                <a:lnSpc>
                  <a:spcPts val="4447"/>
                </a:lnSpc>
                <a:buFont typeface="Arial"/>
                <a:buChar char="•"/>
              </a:pPr>
              <a:r>
                <a:rPr lang="en-US" sz="3199">
                  <a:solidFill>
                    <a:srgbClr val="000000"/>
                  </a:solidFill>
                  <a:latin typeface="Calibri (MS)"/>
                  <a:ea typeface="Calibri (MS)"/>
                  <a:cs typeface="Calibri (MS)"/>
                  <a:sym typeface="Calibri (MS)"/>
                </a:rPr>
                <a:t>The distribution of cryptocurrency prices is highly right-skewed.</a:t>
              </a:r>
            </a:p>
            <a:p>
              <a:pPr algn="l" marL="690879" indent="-345439" lvl="1">
                <a:lnSpc>
                  <a:spcPts val="4447"/>
                </a:lnSpc>
                <a:buFont typeface="Arial"/>
                <a:buChar char="•"/>
              </a:pPr>
              <a:r>
                <a:rPr lang="en-US" sz="3199">
                  <a:solidFill>
                    <a:srgbClr val="000000"/>
                  </a:solidFill>
                  <a:latin typeface="Calibri (MS)"/>
                  <a:ea typeface="Calibri (MS)"/>
                  <a:cs typeface="Calibri (MS)"/>
                  <a:sym typeface="Calibri (MS)"/>
                </a:rPr>
                <a:t>Most cryptocurrencies have very low prices compared to a few high-value coins.</a:t>
              </a:r>
            </a:p>
            <a:p>
              <a:pPr algn="l" marL="690879" indent="-345439" lvl="1">
                <a:lnSpc>
                  <a:spcPts val="4447"/>
                </a:lnSpc>
                <a:buFont typeface="Arial"/>
                <a:buChar char="•"/>
              </a:pPr>
              <a:r>
                <a:rPr lang="en-US" sz="3199">
                  <a:solidFill>
                    <a:srgbClr val="000000"/>
                  </a:solidFill>
                  <a:latin typeface="Calibri (MS)"/>
                  <a:ea typeface="Calibri (MS)"/>
                  <a:cs typeface="Calibri (MS)"/>
                  <a:sym typeface="Calibri (MS)"/>
                </a:rPr>
                <a:t>Only a small number of cryptocurrencies such as Bitcoin and Ethereum dominate the high price range.</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221348" y="9277474"/>
            <a:ext cx="4838100" cy="1009526"/>
            <a:chOff x="0" y="0"/>
            <a:chExt cx="6450800" cy="1346035"/>
          </a:xfrm>
        </p:grpSpPr>
        <p:sp>
          <p:nvSpPr>
            <p:cNvPr name="Freeform 3" id="3"/>
            <p:cNvSpPr/>
            <p:nvPr/>
          </p:nvSpPr>
          <p:spPr>
            <a:xfrm flipH="false" flipV="false" rot="0">
              <a:off x="0" y="0"/>
              <a:ext cx="6450838" cy="1346073"/>
            </a:xfrm>
            <a:custGeom>
              <a:avLst/>
              <a:gdLst/>
              <a:ahLst/>
              <a:cxnLst/>
              <a:rect r="r" b="b" t="t" l="l"/>
              <a:pathLst>
                <a:path h="1346073" w="6450838">
                  <a:moveTo>
                    <a:pt x="0" y="0"/>
                  </a:moveTo>
                  <a:lnTo>
                    <a:pt x="6450838" y="0"/>
                  </a:lnTo>
                  <a:lnTo>
                    <a:pt x="6450838" y="1346073"/>
                  </a:lnTo>
                  <a:lnTo>
                    <a:pt x="0" y="1346073"/>
                  </a:lnTo>
                  <a:lnTo>
                    <a:pt x="0" y="0"/>
                  </a:lnTo>
                  <a:close/>
                </a:path>
              </a:pathLst>
            </a:custGeom>
            <a:blipFill>
              <a:blip r:embed="rId3"/>
              <a:stretch>
                <a:fillRect l="0" t="0" r="0" b="2"/>
              </a:stretch>
            </a:blipFill>
          </p:spPr>
        </p:sp>
      </p:grpSp>
      <p:grpSp>
        <p:nvGrpSpPr>
          <p:cNvPr name="Group 4" id="4"/>
          <p:cNvGrpSpPr/>
          <p:nvPr/>
        </p:nvGrpSpPr>
        <p:grpSpPr>
          <a:xfrm rot="0">
            <a:off x="1028700" y="1028700"/>
            <a:ext cx="17173866" cy="1988344"/>
            <a:chOff x="0" y="0"/>
            <a:chExt cx="22898488" cy="2651126"/>
          </a:xfrm>
        </p:grpSpPr>
        <p:sp>
          <p:nvSpPr>
            <p:cNvPr name="Freeform 5" id="5"/>
            <p:cNvSpPr/>
            <p:nvPr/>
          </p:nvSpPr>
          <p:spPr>
            <a:xfrm flipH="false" flipV="false" rot="0">
              <a:off x="0" y="0"/>
              <a:ext cx="22898488" cy="2651127"/>
            </a:xfrm>
            <a:custGeom>
              <a:avLst/>
              <a:gdLst/>
              <a:ahLst/>
              <a:cxnLst/>
              <a:rect r="r" b="b" t="t" l="l"/>
              <a:pathLst>
                <a:path h="2651127" w="22898488">
                  <a:moveTo>
                    <a:pt x="0" y="0"/>
                  </a:moveTo>
                  <a:lnTo>
                    <a:pt x="22898488" y="0"/>
                  </a:lnTo>
                  <a:lnTo>
                    <a:pt x="22898488" y="2651127"/>
                  </a:lnTo>
                  <a:lnTo>
                    <a:pt x="0" y="2651127"/>
                  </a:lnTo>
                  <a:close/>
                </a:path>
              </a:pathLst>
            </a:custGeom>
            <a:blipFill>
              <a:blip r:embed="rId4">
                <a:alphaModFix amt="0"/>
              </a:blip>
              <a:stretch>
                <a:fillRect l="0" t="-104573" r="8154" b="-104573"/>
              </a:stretch>
            </a:blipFill>
          </p:spPr>
        </p:sp>
        <p:sp>
          <p:nvSpPr>
            <p:cNvPr name="TextBox 6" id="6"/>
            <p:cNvSpPr txBox="true"/>
            <p:nvPr/>
          </p:nvSpPr>
          <p:spPr>
            <a:xfrm>
              <a:off x="0" y="-66675"/>
              <a:ext cx="22898488" cy="2717801"/>
            </a:xfrm>
            <a:prstGeom prst="rect">
              <a:avLst/>
            </a:prstGeom>
          </p:spPr>
          <p:txBody>
            <a:bodyPr anchor="ctr" rtlCol="false" tIns="0" lIns="0" bIns="0" rIns="0"/>
            <a:lstStyle/>
            <a:p>
              <a:pPr algn="l">
                <a:lnSpc>
                  <a:spcPts val="7128"/>
                </a:lnSpc>
              </a:pPr>
              <a:r>
                <a:rPr lang="en-US" b="true" sz="6600">
                  <a:solidFill>
                    <a:srgbClr val="FF0000"/>
                  </a:solidFill>
                  <a:latin typeface="Calibri (MS) Bold"/>
                  <a:ea typeface="Calibri (MS) Bold"/>
                  <a:cs typeface="Calibri (MS) Bold"/>
                  <a:sym typeface="Calibri (MS) Bold"/>
                </a:rPr>
                <a:t> EDA – Univariate Analysis</a:t>
              </a:r>
            </a:p>
          </p:txBody>
        </p:sp>
      </p:grpSp>
      <p:sp>
        <p:nvSpPr>
          <p:cNvPr name="Freeform 7" id="7"/>
          <p:cNvSpPr/>
          <p:nvPr/>
        </p:nvSpPr>
        <p:spPr>
          <a:xfrm flipH="false" flipV="false" rot="0">
            <a:off x="4471465" y="3299810"/>
            <a:ext cx="9028644" cy="4019663"/>
          </a:xfrm>
          <a:custGeom>
            <a:avLst/>
            <a:gdLst/>
            <a:ahLst/>
            <a:cxnLst/>
            <a:rect r="r" b="b" t="t" l="l"/>
            <a:pathLst>
              <a:path h="4019663" w="9028644">
                <a:moveTo>
                  <a:pt x="0" y="0"/>
                </a:moveTo>
                <a:lnTo>
                  <a:pt x="9028645" y="0"/>
                </a:lnTo>
                <a:lnTo>
                  <a:pt x="9028645" y="4019664"/>
                </a:lnTo>
                <a:lnTo>
                  <a:pt x="0" y="4019664"/>
                </a:lnTo>
                <a:lnTo>
                  <a:pt x="0" y="0"/>
                </a:lnTo>
                <a:close/>
              </a:path>
            </a:pathLst>
          </a:custGeom>
          <a:blipFill>
            <a:blip r:embed="rId5"/>
            <a:stretch>
              <a:fillRect l="0" t="-2198" r="0" b="0"/>
            </a:stretch>
          </a:blipFill>
        </p:spPr>
      </p:sp>
      <p:sp>
        <p:nvSpPr>
          <p:cNvPr name="TextBox 8" id="8"/>
          <p:cNvSpPr txBox="true"/>
          <p:nvPr/>
        </p:nvSpPr>
        <p:spPr>
          <a:xfrm rot="0">
            <a:off x="1028700" y="2641315"/>
            <a:ext cx="14850981" cy="658495"/>
          </a:xfrm>
          <a:prstGeom prst="rect">
            <a:avLst/>
          </a:prstGeom>
        </p:spPr>
        <p:txBody>
          <a:bodyPr anchor="t" rtlCol="false" tIns="0" lIns="0" bIns="0" rIns="0">
            <a:spAutoFit/>
          </a:bodyPr>
          <a:lstStyle/>
          <a:p>
            <a:pPr algn="l" marL="755647" indent="-377824" lvl="1">
              <a:lnSpc>
                <a:spcPts val="4864"/>
              </a:lnSpc>
              <a:buAutoNum type="arabicPeriod" startAt="1"/>
            </a:pPr>
            <a:r>
              <a:rPr lang="en-US" b="true" sz="3499">
                <a:solidFill>
                  <a:srgbClr val="000000"/>
                </a:solidFill>
                <a:latin typeface="Calibri (MS) Bold"/>
                <a:ea typeface="Calibri (MS) Bold"/>
                <a:cs typeface="Calibri (MS) Bold"/>
                <a:sym typeface="Calibri (MS) Bold"/>
              </a:rPr>
              <a:t>Which cryptocurrencies have the highest market capitalization?</a:t>
            </a:r>
          </a:p>
        </p:txBody>
      </p:sp>
      <p:grpSp>
        <p:nvGrpSpPr>
          <p:cNvPr name="Group 9" id="9"/>
          <p:cNvGrpSpPr/>
          <p:nvPr/>
        </p:nvGrpSpPr>
        <p:grpSpPr>
          <a:xfrm rot="0">
            <a:off x="851718" y="7069582"/>
            <a:ext cx="13550831" cy="3217418"/>
            <a:chOff x="0" y="0"/>
            <a:chExt cx="18067775" cy="4289891"/>
          </a:xfrm>
        </p:grpSpPr>
        <p:sp>
          <p:nvSpPr>
            <p:cNvPr name="TextBox 10" id="10"/>
            <p:cNvSpPr txBox="true"/>
            <p:nvPr/>
          </p:nvSpPr>
          <p:spPr>
            <a:xfrm rot="0">
              <a:off x="0" y="-133350"/>
              <a:ext cx="5550614" cy="779695"/>
            </a:xfrm>
            <a:prstGeom prst="rect">
              <a:avLst/>
            </a:prstGeom>
          </p:spPr>
          <p:txBody>
            <a:bodyPr anchor="t" rtlCol="false" tIns="0" lIns="0" bIns="0" rIns="0">
              <a:spAutoFit/>
            </a:bodyPr>
            <a:lstStyle/>
            <a:p>
              <a:pPr algn="l">
                <a:lnSpc>
                  <a:spcPts val="4447"/>
                </a:lnSpc>
              </a:pPr>
              <a:r>
                <a:rPr lang="en-US" sz="3199" b="true">
                  <a:solidFill>
                    <a:srgbClr val="000000"/>
                  </a:solidFill>
                  <a:latin typeface="Calibri (MS) Bold"/>
                  <a:ea typeface="Calibri (MS) Bold"/>
                  <a:cs typeface="Calibri (MS) Bold"/>
                  <a:sym typeface="Calibri (MS) Bold"/>
                </a:rPr>
                <a:t>Observations:</a:t>
              </a:r>
            </a:p>
          </p:txBody>
        </p:sp>
        <p:sp>
          <p:nvSpPr>
            <p:cNvPr name="TextBox 11" id="11"/>
            <p:cNvSpPr txBox="true"/>
            <p:nvPr/>
          </p:nvSpPr>
          <p:spPr>
            <a:xfrm rot="0">
              <a:off x="0" y="512995"/>
              <a:ext cx="18067775" cy="3776895"/>
            </a:xfrm>
            <a:prstGeom prst="rect">
              <a:avLst/>
            </a:prstGeom>
          </p:spPr>
          <p:txBody>
            <a:bodyPr anchor="t" rtlCol="false" tIns="0" lIns="0" bIns="0" rIns="0">
              <a:spAutoFit/>
            </a:bodyPr>
            <a:lstStyle/>
            <a:p>
              <a:pPr algn="l" marL="690879" indent="-345439" lvl="1">
                <a:lnSpc>
                  <a:spcPts val="4447"/>
                </a:lnSpc>
                <a:buFont typeface="Arial"/>
                <a:buChar char="•"/>
              </a:pPr>
              <a:r>
                <a:rPr lang="en-US" sz="3199">
                  <a:solidFill>
                    <a:srgbClr val="000000"/>
                  </a:solidFill>
                  <a:latin typeface="Calibri (MS)"/>
                  <a:ea typeface="Calibri (MS)"/>
                  <a:cs typeface="Calibri (MS)"/>
                  <a:sym typeface="Calibri (MS)"/>
                </a:rPr>
                <a:t>A small group of cryptocurrencies contribute to the majority of the total market capitalization.</a:t>
              </a:r>
            </a:p>
            <a:p>
              <a:pPr algn="l" marL="690879" indent="-345439" lvl="1">
                <a:lnSpc>
                  <a:spcPts val="4447"/>
                </a:lnSpc>
                <a:buFont typeface="Arial"/>
                <a:buChar char="•"/>
              </a:pPr>
              <a:r>
                <a:rPr lang="en-US" sz="3199">
                  <a:solidFill>
                    <a:srgbClr val="000000"/>
                  </a:solidFill>
                  <a:latin typeface="Calibri (MS)"/>
                  <a:ea typeface="Calibri (MS)"/>
                  <a:cs typeface="Calibri (MS)"/>
                  <a:sym typeface="Calibri (MS)"/>
                </a:rPr>
                <a:t>Top ranked cryptocurrencies such as Bitcoin, Ethereum, and other major coins dominate the market.</a:t>
              </a:r>
            </a:p>
            <a:p>
              <a:pPr algn="l" marL="690879" indent="-345439" lvl="1">
                <a:lnSpc>
                  <a:spcPts val="4447"/>
                </a:lnSpc>
                <a:buFont typeface="Arial"/>
                <a:buChar char="•"/>
              </a:pPr>
              <a:r>
                <a:rPr lang="en-US" sz="3199">
                  <a:solidFill>
                    <a:srgbClr val="000000"/>
                  </a:solidFill>
                  <a:latin typeface="Calibri (MS)"/>
                  <a:ea typeface="Calibri (MS)"/>
                  <a:cs typeface="Calibri (MS)"/>
                  <a:sym typeface="Calibri (MS)"/>
                </a:rPr>
                <a:t>Many smaller cryptocurrencies have significantly lower market caps.</a:t>
              </a: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1028700"/>
            <a:ext cx="17173866" cy="1988344"/>
            <a:chOff x="0" y="0"/>
            <a:chExt cx="22898488" cy="2651126"/>
          </a:xfrm>
        </p:grpSpPr>
        <p:sp>
          <p:nvSpPr>
            <p:cNvPr name="Freeform 3" id="3"/>
            <p:cNvSpPr/>
            <p:nvPr/>
          </p:nvSpPr>
          <p:spPr>
            <a:xfrm flipH="false" flipV="false" rot="0">
              <a:off x="0" y="0"/>
              <a:ext cx="22898488" cy="2651127"/>
            </a:xfrm>
            <a:custGeom>
              <a:avLst/>
              <a:gdLst/>
              <a:ahLst/>
              <a:cxnLst/>
              <a:rect r="r" b="b" t="t" l="l"/>
              <a:pathLst>
                <a:path h="2651127" w="22898488">
                  <a:moveTo>
                    <a:pt x="0" y="0"/>
                  </a:moveTo>
                  <a:lnTo>
                    <a:pt x="22898488" y="0"/>
                  </a:lnTo>
                  <a:lnTo>
                    <a:pt x="22898488" y="2651127"/>
                  </a:lnTo>
                  <a:lnTo>
                    <a:pt x="0" y="2651127"/>
                  </a:lnTo>
                  <a:close/>
                </a:path>
              </a:pathLst>
            </a:custGeom>
            <a:blipFill>
              <a:blip r:embed="rId3">
                <a:alphaModFix amt="0"/>
              </a:blip>
              <a:stretch>
                <a:fillRect l="0" t="-104573" r="8154" b="-104573"/>
              </a:stretch>
            </a:blipFill>
          </p:spPr>
        </p:sp>
        <p:sp>
          <p:nvSpPr>
            <p:cNvPr name="TextBox 4" id="4"/>
            <p:cNvSpPr txBox="true"/>
            <p:nvPr/>
          </p:nvSpPr>
          <p:spPr>
            <a:xfrm>
              <a:off x="0" y="-66675"/>
              <a:ext cx="22898488" cy="2717801"/>
            </a:xfrm>
            <a:prstGeom prst="rect">
              <a:avLst/>
            </a:prstGeom>
          </p:spPr>
          <p:txBody>
            <a:bodyPr anchor="ctr" rtlCol="false" tIns="0" lIns="0" bIns="0" rIns="0"/>
            <a:lstStyle/>
            <a:p>
              <a:pPr algn="l">
                <a:lnSpc>
                  <a:spcPts val="7128"/>
                </a:lnSpc>
              </a:pPr>
              <a:r>
                <a:rPr lang="en-US" b="true" sz="6600">
                  <a:solidFill>
                    <a:srgbClr val="FF0000"/>
                  </a:solidFill>
                  <a:latin typeface="Calibri (MS) Bold"/>
                  <a:ea typeface="Calibri (MS) Bold"/>
                  <a:cs typeface="Calibri (MS) Bold"/>
                  <a:sym typeface="Calibri (MS) Bold"/>
                </a:rPr>
                <a:t> EDA – Univariate Analysis</a:t>
              </a:r>
            </a:p>
          </p:txBody>
        </p:sp>
      </p:grpSp>
      <p:grpSp>
        <p:nvGrpSpPr>
          <p:cNvPr name="Group 5" id="5"/>
          <p:cNvGrpSpPr/>
          <p:nvPr/>
        </p:nvGrpSpPr>
        <p:grpSpPr>
          <a:xfrm rot="0">
            <a:off x="13221348" y="9277474"/>
            <a:ext cx="4838100" cy="1009526"/>
            <a:chOff x="0" y="0"/>
            <a:chExt cx="6450800" cy="1346035"/>
          </a:xfrm>
        </p:grpSpPr>
        <p:sp>
          <p:nvSpPr>
            <p:cNvPr name="Freeform 6" id="6"/>
            <p:cNvSpPr/>
            <p:nvPr/>
          </p:nvSpPr>
          <p:spPr>
            <a:xfrm flipH="false" flipV="false" rot="0">
              <a:off x="0" y="0"/>
              <a:ext cx="6450838" cy="1346073"/>
            </a:xfrm>
            <a:custGeom>
              <a:avLst/>
              <a:gdLst/>
              <a:ahLst/>
              <a:cxnLst/>
              <a:rect r="r" b="b" t="t" l="l"/>
              <a:pathLst>
                <a:path h="1346073" w="6450838">
                  <a:moveTo>
                    <a:pt x="0" y="0"/>
                  </a:moveTo>
                  <a:lnTo>
                    <a:pt x="6450838" y="0"/>
                  </a:lnTo>
                  <a:lnTo>
                    <a:pt x="6450838" y="1346073"/>
                  </a:lnTo>
                  <a:lnTo>
                    <a:pt x="0" y="1346073"/>
                  </a:lnTo>
                  <a:lnTo>
                    <a:pt x="0" y="0"/>
                  </a:lnTo>
                  <a:close/>
                </a:path>
              </a:pathLst>
            </a:custGeom>
            <a:blipFill>
              <a:blip r:embed="rId4"/>
              <a:stretch>
                <a:fillRect l="0" t="0" r="0" b="2"/>
              </a:stretch>
            </a:blipFill>
          </p:spPr>
        </p:sp>
      </p:grpSp>
      <p:sp>
        <p:nvSpPr>
          <p:cNvPr name="Freeform 7" id="7"/>
          <p:cNvSpPr/>
          <p:nvPr/>
        </p:nvSpPr>
        <p:spPr>
          <a:xfrm flipH="false" flipV="false" rot="0">
            <a:off x="1424980" y="6293011"/>
            <a:ext cx="11796368" cy="3627668"/>
          </a:xfrm>
          <a:custGeom>
            <a:avLst/>
            <a:gdLst/>
            <a:ahLst/>
            <a:cxnLst/>
            <a:rect r="r" b="b" t="t" l="l"/>
            <a:pathLst>
              <a:path h="3627668" w="11796368">
                <a:moveTo>
                  <a:pt x="0" y="0"/>
                </a:moveTo>
                <a:lnTo>
                  <a:pt x="11796368" y="0"/>
                </a:lnTo>
                <a:lnTo>
                  <a:pt x="11796368" y="3627669"/>
                </a:lnTo>
                <a:lnTo>
                  <a:pt x="0" y="3627669"/>
                </a:lnTo>
                <a:lnTo>
                  <a:pt x="0" y="0"/>
                </a:lnTo>
                <a:close/>
              </a:path>
            </a:pathLst>
          </a:custGeom>
          <a:blipFill>
            <a:blip r:embed="rId5"/>
            <a:stretch>
              <a:fillRect l="0" t="-2434" r="0" b="-2434"/>
            </a:stretch>
          </a:blipFill>
        </p:spPr>
      </p:sp>
      <p:sp>
        <p:nvSpPr>
          <p:cNvPr name="TextBox 8" id="8"/>
          <p:cNvSpPr txBox="true"/>
          <p:nvPr/>
        </p:nvSpPr>
        <p:spPr>
          <a:xfrm rot="0">
            <a:off x="1028700" y="2641315"/>
            <a:ext cx="14850981" cy="658495"/>
          </a:xfrm>
          <a:prstGeom prst="rect">
            <a:avLst/>
          </a:prstGeom>
        </p:spPr>
        <p:txBody>
          <a:bodyPr anchor="t" rtlCol="false" tIns="0" lIns="0" bIns="0" rIns="0">
            <a:spAutoFit/>
          </a:bodyPr>
          <a:lstStyle/>
          <a:p>
            <a:pPr algn="l" marL="755647" indent="-377824" lvl="1">
              <a:lnSpc>
                <a:spcPts val="4864"/>
              </a:lnSpc>
              <a:buAutoNum type="arabicPeriod" startAt="1"/>
            </a:pPr>
            <a:r>
              <a:rPr lang="en-US" b="true" sz="3499">
                <a:solidFill>
                  <a:srgbClr val="000000"/>
                </a:solidFill>
                <a:latin typeface="Calibri (MS) Bold"/>
                <a:ea typeface="Calibri (MS) Bold"/>
                <a:cs typeface="Calibri (MS) Bold"/>
                <a:sym typeface="Calibri (MS) Bold"/>
              </a:rPr>
              <a:t>How is trading volume distributed among cryptocurrencies?</a:t>
            </a:r>
          </a:p>
        </p:txBody>
      </p:sp>
      <p:grpSp>
        <p:nvGrpSpPr>
          <p:cNvPr name="Group 9" id="9"/>
          <p:cNvGrpSpPr/>
          <p:nvPr/>
        </p:nvGrpSpPr>
        <p:grpSpPr>
          <a:xfrm rot="0">
            <a:off x="1028700" y="3759457"/>
            <a:ext cx="15282340" cy="2093468"/>
            <a:chOff x="0" y="0"/>
            <a:chExt cx="20376453" cy="2791291"/>
          </a:xfrm>
        </p:grpSpPr>
        <p:sp>
          <p:nvSpPr>
            <p:cNvPr name="TextBox 10" id="10"/>
            <p:cNvSpPr txBox="true"/>
            <p:nvPr/>
          </p:nvSpPr>
          <p:spPr>
            <a:xfrm rot="0">
              <a:off x="0" y="-133350"/>
              <a:ext cx="6259865" cy="779695"/>
            </a:xfrm>
            <a:prstGeom prst="rect">
              <a:avLst/>
            </a:prstGeom>
          </p:spPr>
          <p:txBody>
            <a:bodyPr anchor="t" rtlCol="false" tIns="0" lIns="0" bIns="0" rIns="0">
              <a:spAutoFit/>
            </a:bodyPr>
            <a:lstStyle/>
            <a:p>
              <a:pPr algn="l">
                <a:lnSpc>
                  <a:spcPts val="4447"/>
                </a:lnSpc>
              </a:pPr>
              <a:r>
                <a:rPr lang="en-US" sz="3199" b="true">
                  <a:solidFill>
                    <a:srgbClr val="000000"/>
                  </a:solidFill>
                  <a:latin typeface="Calibri (MS) Bold"/>
                  <a:ea typeface="Calibri (MS) Bold"/>
                  <a:cs typeface="Calibri (MS) Bold"/>
                  <a:sym typeface="Calibri (MS) Bold"/>
                </a:rPr>
                <a:t>Observations:</a:t>
              </a:r>
            </a:p>
          </p:txBody>
        </p:sp>
        <p:sp>
          <p:nvSpPr>
            <p:cNvPr name="TextBox 11" id="11"/>
            <p:cNvSpPr txBox="true"/>
            <p:nvPr/>
          </p:nvSpPr>
          <p:spPr>
            <a:xfrm rot="0">
              <a:off x="0" y="512995"/>
              <a:ext cx="20376453" cy="2278295"/>
            </a:xfrm>
            <a:prstGeom prst="rect">
              <a:avLst/>
            </a:prstGeom>
          </p:spPr>
          <p:txBody>
            <a:bodyPr anchor="t" rtlCol="false" tIns="0" lIns="0" bIns="0" rIns="0">
              <a:spAutoFit/>
            </a:bodyPr>
            <a:lstStyle/>
            <a:p>
              <a:pPr algn="l" marL="690879" indent="-345439" lvl="1">
                <a:lnSpc>
                  <a:spcPts val="4447"/>
                </a:lnSpc>
                <a:buFont typeface="Arial"/>
                <a:buChar char="•"/>
              </a:pPr>
              <a:r>
                <a:rPr lang="en-US" sz="3199">
                  <a:solidFill>
                    <a:srgbClr val="000000"/>
                  </a:solidFill>
                  <a:latin typeface="Calibri (MS)"/>
                  <a:ea typeface="Calibri (MS)"/>
                  <a:cs typeface="Calibri (MS)"/>
                  <a:sym typeface="Calibri (MS)"/>
                </a:rPr>
                <a:t>Trading volume shows a right-skewed distribution.</a:t>
              </a:r>
            </a:p>
            <a:p>
              <a:pPr algn="l" marL="690879" indent="-345439" lvl="1">
                <a:lnSpc>
                  <a:spcPts val="4447"/>
                </a:lnSpc>
                <a:buFont typeface="Arial"/>
                <a:buChar char="•"/>
              </a:pPr>
              <a:r>
                <a:rPr lang="en-US" sz="3199">
                  <a:solidFill>
                    <a:srgbClr val="000000"/>
                  </a:solidFill>
                  <a:latin typeface="Calibri (MS)"/>
                  <a:ea typeface="Calibri (MS)"/>
                  <a:cs typeface="Calibri (MS)"/>
                  <a:sym typeface="Calibri (MS)"/>
                </a:rPr>
                <a:t>A few cryptocurrencies have very high trading activity.</a:t>
              </a:r>
            </a:p>
            <a:p>
              <a:pPr algn="l" marL="690879" indent="-345439" lvl="1">
                <a:lnSpc>
                  <a:spcPts val="4447"/>
                </a:lnSpc>
                <a:buFont typeface="Arial"/>
                <a:buChar char="•"/>
              </a:pPr>
              <a:r>
                <a:rPr lang="en-US" sz="3199">
                  <a:solidFill>
                    <a:srgbClr val="000000"/>
                  </a:solidFill>
                  <a:latin typeface="Calibri (MS)"/>
                  <a:ea typeface="Calibri (MS)"/>
                  <a:cs typeface="Calibri (MS)"/>
                  <a:sym typeface="Calibri (MS)"/>
                </a:rPr>
                <a:t>Most cryptocurrencies have relatively lower trading volumes.</a:t>
              </a: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221348" y="9277474"/>
            <a:ext cx="4838100" cy="1009526"/>
            <a:chOff x="0" y="0"/>
            <a:chExt cx="6450800" cy="1346035"/>
          </a:xfrm>
        </p:grpSpPr>
        <p:sp>
          <p:nvSpPr>
            <p:cNvPr name="Freeform 3" id="3"/>
            <p:cNvSpPr/>
            <p:nvPr/>
          </p:nvSpPr>
          <p:spPr>
            <a:xfrm flipH="false" flipV="false" rot="0">
              <a:off x="0" y="0"/>
              <a:ext cx="6450838" cy="1346073"/>
            </a:xfrm>
            <a:custGeom>
              <a:avLst/>
              <a:gdLst/>
              <a:ahLst/>
              <a:cxnLst/>
              <a:rect r="r" b="b" t="t" l="l"/>
              <a:pathLst>
                <a:path h="1346073" w="6450838">
                  <a:moveTo>
                    <a:pt x="0" y="0"/>
                  </a:moveTo>
                  <a:lnTo>
                    <a:pt x="6450838" y="0"/>
                  </a:lnTo>
                  <a:lnTo>
                    <a:pt x="6450838" y="1346073"/>
                  </a:lnTo>
                  <a:lnTo>
                    <a:pt x="0" y="1346073"/>
                  </a:lnTo>
                  <a:lnTo>
                    <a:pt x="0" y="0"/>
                  </a:lnTo>
                  <a:close/>
                </a:path>
              </a:pathLst>
            </a:custGeom>
            <a:blipFill>
              <a:blip r:embed="rId3"/>
              <a:stretch>
                <a:fillRect l="0" t="0" r="0" b="2"/>
              </a:stretch>
            </a:blipFill>
          </p:spPr>
        </p:sp>
      </p:grpSp>
      <p:grpSp>
        <p:nvGrpSpPr>
          <p:cNvPr name="Group 4" id="4"/>
          <p:cNvGrpSpPr/>
          <p:nvPr/>
        </p:nvGrpSpPr>
        <p:grpSpPr>
          <a:xfrm rot="0">
            <a:off x="1028700" y="1028700"/>
            <a:ext cx="17173866" cy="1988344"/>
            <a:chOff x="0" y="0"/>
            <a:chExt cx="22898488" cy="2651126"/>
          </a:xfrm>
        </p:grpSpPr>
        <p:sp>
          <p:nvSpPr>
            <p:cNvPr name="Freeform 5" id="5"/>
            <p:cNvSpPr/>
            <p:nvPr/>
          </p:nvSpPr>
          <p:spPr>
            <a:xfrm flipH="false" flipV="false" rot="0">
              <a:off x="0" y="0"/>
              <a:ext cx="22898488" cy="2651127"/>
            </a:xfrm>
            <a:custGeom>
              <a:avLst/>
              <a:gdLst/>
              <a:ahLst/>
              <a:cxnLst/>
              <a:rect r="r" b="b" t="t" l="l"/>
              <a:pathLst>
                <a:path h="2651127" w="22898488">
                  <a:moveTo>
                    <a:pt x="0" y="0"/>
                  </a:moveTo>
                  <a:lnTo>
                    <a:pt x="22898488" y="0"/>
                  </a:lnTo>
                  <a:lnTo>
                    <a:pt x="22898488" y="2651127"/>
                  </a:lnTo>
                  <a:lnTo>
                    <a:pt x="0" y="2651127"/>
                  </a:lnTo>
                  <a:close/>
                </a:path>
              </a:pathLst>
            </a:custGeom>
            <a:blipFill>
              <a:blip r:embed="rId4">
                <a:alphaModFix amt="0"/>
              </a:blip>
              <a:stretch>
                <a:fillRect l="0" t="-104573" r="8154" b="-104573"/>
              </a:stretch>
            </a:blipFill>
          </p:spPr>
        </p:sp>
        <p:sp>
          <p:nvSpPr>
            <p:cNvPr name="TextBox 6" id="6"/>
            <p:cNvSpPr txBox="true"/>
            <p:nvPr/>
          </p:nvSpPr>
          <p:spPr>
            <a:xfrm>
              <a:off x="0" y="-66675"/>
              <a:ext cx="22898488" cy="2717801"/>
            </a:xfrm>
            <a:prstGeom prst="rect">
              <a:avLst/>
            </a:prstGeom>
          </p:spPr>
          <p:txBody>
            <a:bodyPr anchor="ctr" rtlCol="false" tIns="0" lIns="0" bIns="0" rIns="0"/>
            <a:lstStyle/>
            <a:p>
              <a:pPr algn="l">
                <a:lnSpc>
                  <a:spcPts val="7128"/>
                </a:lnSpc>
              </a:pPr>
              <a:r>
                <a:rPr lang="en-US" b="true" sz="6600">
                  <a:solidFill>
                    <a:srgbClr val="FF0000"/>
                  </a:solidFill>
                  <a:latin typeface="Calibri (MS) Bold"/>
                  <a:ea typeface="Calibri (MS) Bold"/>
                  <a:cs typeface="Calibri (MS) Bold"/>
                  <a:sym typeface="Calibri (MS) Bold"/>
                </a:rPr>
                <a:t> EDA – Bivariate Analysis</a:t>
              </a:r>
            </a:p>
          </p:txBody>
        </p:sp>
      </p:grpSp>
      <p:sp>
        <p:nvSpPr>
          <p:cNvPr name="Freeform 7" id="7"/>
          <p:cNvSpPr/>
          <p:nvPr/>
        </p:nvSpPr>
        <p:spPr>
          <a:xfrm flipH="false" flipV="false" rot="0">
            <a:off x="2484338" y="3185523"/>
            <a:ext cx="13319323" cy="3915953"/>
          </a:xfrm>
          <a:custGeom>
            <a:avLst/>
            <a:gdLst/>
            <a:ahLst/>
            <a:cxnLst/>
            <a:rect r="r" b="b" t="t" l="l"/>
            <a:pathLst>
              <a:path h="3915953" w="13319323">
                <a:moveTo>
                  <a:pt x="0" y="0"/>
                </a:moveTo>
                <a:lnTo>
                  <a:pt x="13319324" y="0"/>
                </a:lnTo>
                <a:lnTo>
                  <a:pt x="13319324" y="3915954"/>
                </a:lnTo>
                <a:lnTo>
                  <a:pt x="0" y="3915954"/>
                </a:lnTo>
                <a:lnTo>
                  <a:pt x="0" y="0"/>
                </a:lnTo>
                <a:close/>
              </a:path>
            </a:pathLst>
          </a:custGeom>
          <a:blipFill>
            <a:blip r:embed="rId5"/>
            <a:stretch>
              <a:fillRect l="-21563" t="-109073" r="-19660" b="-61118"/>
            </a:stretch>
          </a:blipFill>
        </p:spPr>
      </p:sp>
      <p:sp>
        <p:nvSpPr>
          <p:cNvPr name="TextBox 8" id="8"/>
          <p:cNvSpPr txBox="true"/>
          <p:nvPr/>
        </p:nvSpPr>
        <p:spPr>
          <a:xfrm rot="0">
            <a:off x="1331729" y="2641315"/>
            <a:ext cx="15387596" cy="618109"/>
          </a:xfrm>
          <a:prstGeom prst="rect">
            <a:avLst/>
          </a:prstGeom>
        </p:spPr>
        <p:txBody>
          <a:bodyPr anchor="t" rtlCol="false" tIns="0" lIns="0" bIns="0" rIns="0">
            <a:spAutoFit/>
          </a:bodyPr>
          <a:lstStyle/>
          <a:p>
            <a:pPr algn="l">
              <a:lnSpc>
                <a:spcPts val="4447"/>
              </a:lnSpc>
            </a:pPr>
            <a:r>
              <a:rPr lang="en-US" sz="3199" b="true">
                <a:solidFill>
                  <a:srgbClr val="000000"/>
                </a:solidFill>
                <a:latin typeface="Calibri (MS) Bold"/>
                <a:ea typeface="Calibri (MS) Bold"/>
                <a:cs typeface="Calibri (MS) Bold"/>
                <a:sym typeface="Calibri (MS) Bold"/>
              </a:rPr>
              <a:t>4. How does market capitalization influence cryptocurrency ranking?</a:t>
            </a:r>
          </a:p>
        </p:txBody>
      </p:sp>
      <p:grpSp>
        <p:nvGrpSpPr>
          <p:cNvPr name="Group 9" id="9"/>
          <p:cNvGrpSpPr/>
          <p:nvPr/>
        </p:nvGrpSpPr>
        <p:grpSpPr>
          <a:xfrm rot="0">
            <a:off x="1331729" y="7445390"/>
            <a:ext cx="16727719" cy="1598168"/>
            <a:chOff x="0" y="0"/>
            <a:chExt cx="22303625" cy="2130891"/>
          </a:xfrm>
        </p:grpSpPr>
        <p:sp>
          <p:nvSpPr>
            <p:cNvPr name="TextBox 10" id="10"/>
            <p:cNvSpPr txBox="true"/>
            <p:nvPr/>
          </p:nvSpPr>
          <p:spPr>
            <a:xfrm rot="0">
              <a:off x="0" y="-133350"/>
              <a:ext cx="4279051" cy="779695"/>
            </a:xfrm>
            <a:prstGeom prst="rect">
              <a:avLst/>
            </a:prstGeom>
          </p:spPr>
          <p:txBody>
            <a:bodyPr anchor="t" rtlCol="false" tIns="0" lIns="0" bIns="0" rIns="0">
              <a:spAutoFit/>
            </a:bodyPr>
            <a:lstStyle/>
            <a:p>
              <a:pPr algn="l">
                <a:lnSpc>
                  <a:spcPts val="4447"/>
                </a:lnSpc>
              </a:pPr>
              <a:r>
                <a:rPr lang="en-US" sz="3199" b="true">
                  <a:solidFill>
                    <a:srgbClr val="000000"/>
                  </a:solidFill>
                  <a:latin typeface="Calibri (MS) Bold"/>
                  <a:ea typeface="Calibri (MS) Bold"/>
                  <a:cs typeface="Calibri (MS) Bold"/>
                  <a:sym typeface="Calibri (MS) Bold"/>
                </a:rPr>
                <a:t>Observations : </a:t>
              </a:r>
            </a:p>
          </p:txBody>
        </p:sp>
        <p:sp>
          <p:nvSpPr>
            <p:cNvPr name="TextBox 11" id="11"/>
            <p:cNvSpPr txBox="true"/>
            <p:nvPr/>
          </p:nvSpPr>
          <p:spPr>
            <a:xfrm rot="0">
              <a:off x="0" y="601895"/>
              <a:ext cx="22303625" cy="1528995"/>
            </a:xfrm>
            <a:prstGeom prst="rect">
              <a:avLst/>
            </a:prstGeom>
          </p:spPr>
          <p:txBody>
            <a:bodyPr anchor="t" rtlCol="false" tIns="0" lIns="0" bIns="0" rIns="0">
              <a:spAutoFit/>
            </a:bodyPr>
            <a:lstStyle/>
            <a:p>
              <a:pPr algn="l" marL="690879" indent="-345439" lvl="1">
                <a:lnSpc>
                  <a:spcPts val="4447"/>
                </a:lnSpc>
                <a:buFont typeface="Arial"/>
                <a:buChar char="•"/>
              </a:pPr>
              <a:r>
                <a:rPr lang="en-US" sz="3199">
                  <a:solidFill>
                    <a:srgbClr val="000000"/>
                  </a:solidFill>
                  <a:latin typeface="Calibri (MS)"/>
                  <a:ea typeface="Calibri (MS)"/>
                  <a:cs typeface="Calibri (MS)"/>
                  <a:sym typeface="Calibri (MS)"/>
                </a:rPr>
                <a:t>Cryptocurrencies with higher market capitalization usually have better rankings.</a:t>
              </a:r>
            </a:p>
            <a:p>
              <a:pPr algn="l" marL="690879" indent="-345439" lvl="1">
                <a:lnSpc>
                  <a:spcPts val="4447"/>
                </a:lnSpc>
                <a:buFont typeface="Arial"/>
                <a:buChar char="•"/>
              </a:pPr>
              <a:r>
                <a:rPr lang="en-US" sz="3199">
                  <a:solidFill>
                    <a:srgbClr val="000000"/>
                  </a:solidFill>
                  <a:latin typeface="Calibri (MS)"/>
                  <a:ea typeface="Calibri (MS)"/>
                  <a:cs typeface="Calibri (MS)"/>
                  <a:sym typeface="Calibri (MS)"/>
                </a:rPr>
                <a:t>Lower ranked cryptocurrencies tend to have significantly smaller market caps.</a:t>
              </a:r>
            </a:p>
          </p:txBody>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221348" y="9277474"/>
            <a:ext cx="4838100" cy="1009526"/>
            <a:chOff x="0" y="0"/>
            <a:chExt cx="6450800" cy="1346035"/>
          </a:xfrm>
        </p:grpSpPr>
        <p:sp>
          <p:nvSpPr>
            <p:cNvPr name="Freeform 3" id="3"/>
            <p:cNvSpPr/>
            <p:nvPr/>
          </p:nvSpPr>
          <p:spPr>
            <a:xfrm flipH="false" flipV="false" rot="0">
              <a:off x="0" y="0"/>
              <a:ext cx="6450838" cy="1346073"/>
            </a:xfrm>
            <a:custGeom>
              <a:avLst/>
              <a:gdLst/>
              <a:ahLst/>
              <a:cxnLst/>
              <a:rect r="r" b="b" t="t" l="l"/>
              <a:pathLst>
                <a:path h="1346073" w="6450838">
                  <a:moveTo>
                    <a:pt x="0" y="0"/>
                  </a:moveTo>
                  <a:lnTo>
                    <a:pt x="6450838" y="0"/>
                  </a:lnTo>
                  <a:lnTo>
                    <a:pt x="6450838" y="1346073"/>
                  </a:lnTo>
                  <a:lnTo>
                    <a:pt x="0" y="1346073"/>
                  </a:lnTo>
                  <a:lnTo>
                    <a:pt x="0" y="0"/>
                  </a:lnTo>
                  <a:close/>
                </a:path>
              </a:pathLst>
            </a:custGeom>
            <a:blipFill>
              <a:blip r:embed="rId3"/>
              <a:stretch>
                <a:fillRect l="0" t="0" r="0" b="2"/>
              </a:stretch>
            </a:blipFill>
          </p:spPr>
        </p:sp>
      </p:grpSp>
      <p:grpSp>
        <p:nvGrpSpPr>
          <p:cNvPr name="Group 4" id="4"/>
          <p:cNvGrpSpPr/>
          <p:nvPr/>
        </p:nvGrpSpPr>
        <p:grpSpPr>
          <a:xfrm rot="0">
            <a:off x="1028700" y="1028700"/>
            <a:ext cx="17173866" cy="1988344"/>
            <a:chOff x="0" y="0"/>
            <a:chExt cx="22898488" cy="2651126"/>
          </a:xfrm>
        </p:grpSpPr>
        <p:sp>
          <p:nvSpPr>
            <p:cNvPr name="Freeform 5" id="5"/>
            <p:cNvSpPr/>
            <p:nvPr/>
          </p:nvSpPr>
          <p:spPr>
            <a:xfrm flipH="false" flipV="false" rot="0">
              <a:off x="0" y="0"/>
              <a:ext cx="22898488" cy="2651127"/>
            </a:xfrm>
            <a:custGeom>
              <a:avLst/>
              <a:gdLst/>
              <a:ahLst/>
              <a:cxnLst/>
              <a:rect r="r" b="b" t="t" l="l"/>
              <a:pathLst>
                <a:path h="2651127" w="22898488">
                  <a:moveTo>
                    <a:pt x="0" y="0"/>
                  </a:moveTo>
                  <a:lnTo>
                    <a:pt x="22898488" y="0"/>
                  </a:lnTo>
                  <a:lnTo>
                    <a:pt x="22898488" y="2651127"/>
                  </a:lnTo>
                  <a:lnTo>
                    <a:pt x="0" y="2651127"/>
                  </a:lnTo>
                  <a:close/>
                </a:path>
              </a:pathLst>
            </a:custGeom>
            <a:blipFill>
              <a:blip r:embed="rId4">
                <a:alphaModFix amt="0"/>
              </a:blip>
              <a:stretch>
                <a:fillRect l="0" t="-104573" r="8154" b="-104573"/>
              </a:stretch>
            </a:blipFill>
          </p:spPr>
        </p:sp>
        <p:sp>
          <p:nvSpPr>
            <p:cNvPr name="TextBox 6" id="6"/>
            <p:cNvSpPr txBox="true"/>
            <p:nvPr/>
          </p:nvSpPr>
          <p:spPr>
            <a:xfrm>
              <a:off x="0" y="-66675"/>
              <a:ext cx="22898488" cy="2717801"/>
            </a:xfrm>
            <a:prstGeom prst="rect">
              <a:avLst/>
            </a:prstGeom>
          </p:spPr>
          <p:txBody>
            <a:bodyPr anchor="ctr" rtlCol="false" tIns="0" lIns="0" bIns="0" rIns="0"/>
            <a:lstStyle/>
            <a:p>
              <a:pPr algn="l">
                <a:lnSpc>
                  <a:spcPts val="7128"/>
                </a:lnSpc>
              </a:pPr>
              <a:r>
                <a:rPr lang="en-US" b="true" sz="6600">
                  <a:solidFill>
                    <a:srgbClr val="FF0000"/>
                  </a:solidFill>
                  <a:latin typeface="Calibri (MS) Bold"/>
                  <a:ea typeface="Calibri (MS) Bold"/>
                  <a:cs typeface="Calibri (MS) Bold"/>
                  <a:sym typeface="Calibri (MS) Bold"/>
                </a:rPr>
                <a:t> EDA – Bivariate Analysis</a:t>
              </a:r>
            </a:p>
          </p:txBody>
        </p:sp>
      </p:grpSp>
      <p:sp>
        <p:nvSpPr>
          <p:cNvPr name="TextBox 7" id="7"/>
          <p:cNvSpPr txBox="true"/>
          <p:nvPr/>
        </p:nvSpPr>
        <p:spPr>
          <a:xfrm rot="0">
            <a:off x="1331729" y="2641315"/>
            <a:ext cx="14308669" cy="618109"/>
          </a:xfrm>
          <a:prstGeom prst="rect">
            <a:avLst/>
          </a:prstGeom>
        </p:spPr>
        <p:txBody>
          <a:bodyPr anchor="t" rtlCol="false" tIns="0" lIns="0" bIns="0" rIns="0">
            <a:spAutoFit/>
          </a:bodyPr>
          <a:lstStyle/>
          <a:p>
            <a:pPr algn="l">
              <a:lnSpc>
                <a:spcPts val="4447"/>
              </a:lnSpc>
            </a:pPr>
            <a:r>
              <a:rPr lang="en-US" sz="3199" b="true">
                <a:solidFill>
                  <a:srgbClr val="000000"/>
                </a:solidFill>
                <a:latin typeface="Calibri (MS) Bold"/>
                <a:ea typeface="Calibri (MS) Bold"/>
                <a:cs typeface="Calibri (MS) Bold"/>
                <a:sym typeface="Calibri (MS) Bold"/>
              </a:rPr>
              <a:t>6. How do price and market cap interact?</a:t>
            </a:r>
          </a:p>
        </p:txBody>
      </p:sp>
      <p:sp>
        <p:nvSpPr>
          <p:cNvPr name="TextBox 8" id="8"/>
          <p:cNvSpPr txBox="true"/>
          <p:nvPr/>
        </p:nvSpPr>
        <p:spPr>
          <a:xfrm rot="0">
            <a:off x="1331729" y="7803810"/>
            <a:ext cx="3209288" cy="618109"/>
          </a:xfrm>
          <a:prstGeom prst="rect">
            <a:avLst/>
          </a:prstGeom>
        </p:spPr>
        <p:txBody>
          <a:bodyPr anchor="t" rtlCol="false" tIns="0" lIns="0" bIns="0" rIns="0">
            <a:spAutoFit/>
          </a:bodyPr>
          <a:lstStyle/>
          <a:p>
            <a:pPr algn="l">
              <a:lnSpc>
                <a:spcPts val="4447"/>
              </a:lnSpc>
            </a:pPr>
            <a:r>
              <a:rPr lang="en-US" sz="3199" b="true">
                <a:solidFill>
                  <a:srgbClr val="000000"/>
                </a:solidFill>
                <a:latin typeface="Calibri (MS) Bold"/>
                <a:ea typeface="Calibri (MS) Bold"/>
                <a:cs typeface="Calibri (MS) Bold"/>
                <a:sym typeface="Calibri (MS) Bold"/>
              </a:rPr>
              <a:t>Observations :</a:t>
            </a:r>
          </a:p>
        </p:txBody>
      </p:sp>
      <p:sp>
        <p:nvSpPr>
          <p:cNvPr name="TextBox 9" id="9"/>
          <p:cNvSpPr txBox="true"/>
          <p:nvPr/>
        </p:nvSpPr>
        <p:spPr>
          <a:xfrm rot="0">
            <a:off x="1331729" y="8303365"/>
            <a:ext cx="16727719" cy="1180084"/>
          </a:xfrm>
          <a:prstGeom prst="rect">
            <a:avLst/>
          </a:prstGeom>
        </p:spPr>
        <p:txBody>
          <a:bodyPr anchor="t" rtlCol="false" tIns="0" lIns="0" bIns="0" rIns="0">
            <a:spAutoFit/>
          </a:bodyPr>
          <a:lstStyle/>
          <a:p>
            <a:pPr algn="l" marL="690879" indent="-345439" lvl="1">
              <a:lnSpc>
                <a:spcPts val="4447"/>
              </a:lnSpc>
              <a:buFont typeface="Arial"/>
              <a:buChar char="•"/>
            </a:pPr>
            <a:r>
              <a:rPr lang="en-US" sz="3199">
                <a:solidFill>
                  <a:srgbClr val="000000"/>
                </a:solidFill>
                <a:latin typeface="Calibri (MS)"/>
                <a:ea typeface="Calibri (MS)"/>
                <a:cs typeface="Calibri (MS)"/>
                <a:sym typeface="Calibri (MS)"/>
              </a:rPr>
              <a:t>Cryptocurrencies with higher prices often have larger market capitalizations.</a:t>
            </a:r>
          </a:p>
          <a:p>
            <a:pPr algn="l" marL="690879" indent="-345439" lvl="1">
              <a:lnSpc>
                <a:spcPts val="4447"/>
              </a:lnSpc>
              <a:buFont typeface="Arial"/>
              <a:buChar char="•"/>
            </a:pPr>
            <a:r>
              <a:rPr lang="en-US" sz="3199">
                <a:solidFill>
                  <a:srgbClr val="000000"/>
                </a:solidFill>
                <a:latin typeface="Calibri (MS)"/>
                <a:ea typeface="Calibri (MS)"/>
                <a:cs typeface="Calibri (MS)"/>
                <a:sym typeface="Calibri (MS)"/>
              </a:rPr>
              <a:t>However, market cap also depends on circulating supply, not just price.</a:t>
            </a:r>
          </a:p>
        </p:txBody>
      </p:sp>
      <p:sp>
        <p:nvSpPr>
          <p:cNvPr name="Freeform 10" id="10"/>
          <p:cNvSpPr/>
          <p:nvPr/>
        </p:nvSpPr>
        <p:spPr>
          <a:xfrm flipH="false" flipV="false" rot="0">
            <a:off x="2208520" y="3563652"/>
            <a:ext cx="13870959" cy="3826900"/>
          </a:xfrm>
          <a:custGeom>
            <a:avLst/>
            <a:gdLst/>
            <a:ahLst/>
            <a:cxnLst/>
            <a:rect r="r" b="b" t="t" l="l"/>
            <a:pathLst>
              <a:path h="3826900" w="13870959">
                <a:moveTo>
                  <a:pt x="0" y="0"/>
                </a:moveTo>
                <a:lnTo>
                  <a:pt x="13870960" y="0"/>
                </a:lnTo>
                <a:lnTo>
                  <a:pt x="13870960" y="3826900"/>
                </a:lnTo>
                <a:lnTo>
                  <a:pt x="0" y="3826900"/>
                </a:lnTo>
                <a:lnTo>
                  <a:pt x="0" y="0"/>
                </a:lnTo>
                <a:close/>
              </a:path>
            </a:pathLst>
          </a:custGeom>
          <a:blipFill>
            <a:blip r:embed="rId5"/>
            <a:stretch>
              <a:fillRect l="-20894" t="-123567" r="-19552" b="-6278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221348" y="9277474"/>
            <a:ext cx="4838100" cy="1009526"/>
            <a:chOff x="0" y="0"/>
            <a:chExt cx="6450800" cy="1346035"/>
          </a:xfrm>
        </p:grpSpPr>
        <p:sp>
          <p:nvSpPr>
            <p:cNvPr name="Freeform 3" id="3"/>
            <p:cNvSpPr/>
            <p:nvPr/>
          </p:nvSpPr>
          <p:spPr>
            <a:xfrm flipH="false" flipV="false" rot="0">
              <a:off x="0" y="0"/>
              <a:ext cx="6450838" cy="1346073"/>
            </a:xfrm>
            <a:custGeom>
              <a:avLst/>
              <a:gdLst/>
              <a:ahLst/>
              <a:cxnLst/>
              <a:rect r="r" b="b" t="t" l="l"/>
              <a:pathLst>
                <a:path h="1346073" w="6450838">
                  <a:moveTo>
                    <a:pt x="0" y="0"/>
                  </a:moveTo>
                  <a:lnTo>
                    <a:pt x="6450838" y="0"/>
                  </a:lnTo>
                  <a:lnTo>
                    <a:pt x="6450838" y="1346073"/>
                  </a:lnTo>
                  <a:lnTo>
                    <a:pt x="0" y="1346073"/>
                  </a:lnTo>
                  <a:lnTo>
                    <a:pt x="0" y="0"/>
                  </a:lnTo>
                  <a:close/>
                </a:path>
              </a:pathLst>
            </a:custGeom>
            <a:blipFill>
              <a:blip r:embed="rId3"/>
              <a:stretch>
                <a:fillRect l="0" t="0" r="0" b="2"/>
              </a:stretch>
            </a:blipFill>
          </p:spPr>
        </p:sp>
      </p:grpSp>
      <p:grpSp>
        <p:nvGrpSpPr>
          <p:cNvPr name="Group 4" id="4"/>
          <p:cNvGrpSpPr/>
          <p:nvPr/>
        </p:nvGrpSpPr>
        <p:grpSpPr>
          <a:xfrm rot="0">
            <a:off x="1028700" y="1028700"/>
            <a:ext cx="17173866" cy="1988344"/>
            <a:chOff x="0" y="0"/>
            <a:chExt cx="22898488" cy="2651126"/>
          </a:xfrm>
        </p:grpSpPr>
        <p:sp>
          <p:nvSpPr>
            <p:cNvPr name="Freeform 5" id="5"/>
            <p:cNvSpPr/>
            <p:nvPr/>
          </p:nvSpPr>
          <p:spPr>
            <a:xfrm flipH="false" flipV="false" rot="0">
              <a:off x="0" y="0"/>
              <a:ext cx="22898488" cy="2651127"/>
            </a:xfrm>
            <a:custGeom>
              <a:avLst/>
              <a:gdLst/>
              <a:ahLst/>
              <a:cxnLst/>
              <a:rect r="r" b="b" t="t" l="l"/>
              <a:pathLst>
                <a:path h="2651127" w="22898488">
                  <a:moveTo>
                    <a:pt x="0" y="0"/>
                  </a:moveTo>
                  <a:lnTo>
                    <a:pt x="22898488" y="0"/>
                  </a:lnTo>
                  <a:lnTo>
                    <a:pt x="22898488" y="2651127"/>
                  </a:lnTo>
                  <a:lnTo>
                    <a:pt x="0" y="2651127"/>
                  </a:lnTo>
                  <a:close/>
                </a:path>
              </a:pathLst>
            </a:custGeom>
            <a:blipFill>
              <a:blip r:embed="rId4">
                <a:alphaModFix amt="0"/>
              </a:blip>
              <a:stretch>
                <a:fillRect l="0" t="-104573" r="8154" b="-104573"/>
              </a:stretch>
            </a:blipFill>
          </p:spPr>
        </p:sp>
        <p:sp>
          <p:nvSpPr>
            <p:cNvPr name="TextBox 6" id="6"/>
            <p:cNvSpPr txBox="true"/>
            <p:nvPr/>
          </p:nvSpPr>
          <p:spPr>
            <a:xfrm>
              <a:off x="0" y="-66675"/>
              <a:ext cx="22898488" cy="2717801"/>
            </a:xfrm>
            <a:prstGeom prst="rect">
              <a:avLst/>
            </a:prstGeom>
          </p:spPr>
          <p:txBody>
            <a:bodyPr anchor="ctr" rtlCol="false" tIns="0" lIns="0" bIns="0" rIns="0"/>
            <a:lstStyle/>
            <a:p>
              <a:pPr algn="l">
                <a:lnSpc>
                  <a:spcPts val="7128"/>
                </a:lnSpc>
              </a:pPr>
              <a:r>
                <a:rPr lang="en-US" b="true" sz="6600">
                  <a:solidFill>
                    <a:srgbClr val="FF0000"/>
                  </a:solidFill>
                  <a:latin typeface="Calibri (MS) Bold"/>
                  <a:ea typeface="Calibri (MS) Bold"/>
                  <a:cs typeface="Calibri (MS) Bold"/>
                  <a:sym typeface="Calibri (MS) Bold"/>
                </a:rPr>
                <a:t> EDA – Bivariate Analysis</a:t>
              </a:r>
            </a:p>
          </p:txBody>
        </p:sp>
      </p:grpSp>
      <p:sp>
        <p:nvSpPr>
          <p:cNvPr name="Freeform 7" id="7"/>
          <p:cNvSpPr/>
          <p:nvPr/>
        </p:nvSpPr>
        <p:spPr>
          <a:xfrm flipH="false" flipV="false" rot="0">
            <a:off x="1776209" y="3506269"/>
            <a:ext cx="14052342" cy="3934656"/>
          </a:xfrm>
          <a:custGeom>
            <a:avLst/>
            <a:gdLst/>
            <a:ahLst/>
            <a:cxnLst/>
            <a:rect r="r" b="b" t="t" l="l"/>
            <a:pathLst>
              <a:path h="3934656" w="14052342">
                <a:moveTo>
                  <a:pt x="0" y="0"/>
                </a:moveTo>
                <a:lnTo>
                  <a:pt x="14052342" y="0"/>
                </a:lnTo>
                <a:lnTo>
                  <a:pt x="14052342" y="3934656"/>
                </a:lnTo>
                <a:lnTo>
                  <a:pt x="0" y="3934656"/>
                </a:lnTo>
                <a:lnTo>
                  <a:pt x="0" y="0"/>
                </a:lnTo>
                <a:close/>
              </a:path>
            </a:pathLst>
          </a:custGeom>
          <a:blipFill>
            <a:blip r:embed="rId5"/>
            <a:stretch>
              <a:fillRect l="0" t="0" r="0" b="0"/>
            </a:stretch>
          </a:blipFill>
        </p:spPr>
      </p:sp>
      <p:sp>
        <p:nvSpPr>
          <p:cNvPr name="TextBox 8" id="8"/>
          <p:cNvSpPr txBox="true"/>
          <p:nvPr/>
        </p:nvSpPr>
        <p:spPr>
          <a:xfrm rot="0">
            <a:off x="1331729" y="2641315"/>
            <a:ext cx="18515158" cy="618109"/>
          </a:xfrm>
          <a:prstGeom prst="rect">
            <a:avLst/>
          </a:prstGeom>
        </p:spPr>
        <p:txBody>
          <a:bodyPr anchor="t" rtlCol="false" tIns="0" lIns="0" bIns="0" rIns="0">
            <a:spAutoFit/>
          </a:bodyPr>
          <a:lstStyle/>
          <a:p>
            <a:pPr algn="l">
              <a:lnSpc>
                <a:spcPts val="4447"/>
              </a:lnSpc>
            </a:pPr>
            <a:r>
              <a:rPr lang="en-US" sz="3199" b="true">
                <a:solidFill>
                  <a:srgbClr val="000000"/>
                </a:solidFill>
                <a:latin typeface="Calibri (MS) Bold"/>
                <a:ea typeface="Calibri (MS) Bold"/>
                <a:cs typeface="Calibri (MS) Bold"/>
                <a:sym typeface="Calibri (MS) Bold"/>
              </a:rPr>
              <a:t>5. How does price relate to trading volume?</a:t>
            </a:r>
          </a:p>
        </p:txBody>
      </p:sp>
      <p:grpSp>
        <p:nvGrpSpPr>
          <p:cNvPr name="Group 9" id="9"/>
          <p:cNvGrpSpPr/>
          <p:nvPr/>
        </p:nvGrpSpPr>
        <p:grpSpPr>
          <a:xfrm rot="0">
            <a:off x="1251774" y="7930149"/>
            <a:ext cx="16727719" cy="1598168"/>
            <a:chOff x="0" y="0"/>
            <a:chExt cx="22303625" cy="2130891"/>
          </a:xfrm>
        </p:grpSpPr>
        <p:sp>
          <p:nvSpPr>
            <p:cNvPr name="TextBox 10" id="10"/>
            <p:cNvSpPr txBox="true"/>
            <p:nvPr/>
          </p:nvSpPr>
          <p:spPr>
            <a:xfrm rot="0">
              <a:off x="0" y="-133350"/>
              <a:ext cx="4279051" cy="779695"/>
            </a:xfrm>
            <a:prstGeom prst="rect">
              <a:avLst/>
            </a:prstGeom>
          </p:spPr>
          <p:txBody>
            <a:bodyPr anchor="t" rtlCol="false" tIns="0" lIns="0" bIns="0" rIns="0">
              <a:spAutoFit/>
            </a:bodyPr>
            <a:lstStyle/>
            <a:p>
              <a:pPr algn="l">
                <a:lnSpc>
                  <a:spcPts val="4447"/>
                </a:lnSpc>
              </a:pPr>
              <a:r>
                <a:rPr lang="en-US" sz="3199" b="true">
                  <a:solidFill>
                    <a:srgbClr val="000000"/>
                  </a:solidFill>
                  <a:latin typeface="Calibri (MS) Bold"/>
                  <a:ea typeface="Calibri (MS) Bold"/>
                  <a:cs typeface="Calibri (MS) Bold"/>
                  <a:sym typeface="Calibri (MS) Bold"/>
                </a:rPr>
                <a:t>Observations:</a:t>
              </a:r>
            </a:p>
          </p:txBody>
        </p:sp>
        <p:sp>
          <p:nvSpPr>
            <p:cNvPr name="TextBox 11" id="11"/>
            <p:cNvSpPr txBox="true"/>
            <p:nvPr/>
          </p:nvSpPr>
          <p:spPr>
            <a:xfrm rot="0">
              <a:off x="0" y="601895"/>
              <a:ext cx="22303625" cy="1528995"/>
            </a:xfrm>
            <a:prstGeom prst="rect">
              <a:avLst/>
            </a:prstGeom>
          </p:spPr>
          <p:txBody>
            <a:bodyPr anchor="t" rtlCol="false" tIns="0" lIns="0" bIns="0" rIns="0">
              <a:spAutoFit/>
            </a:bodyPr>
            <a:lstStyle/>
            <a:p>
              <a:pPr algn="l" marL="690879" indent="-345439" lvl="1">
                <a:lnSpc>
                  <a:spcPts val="4447"/>
                </a:lnSpc>
                <a:buFont typeface="Arial"/>
                <a:buChar char="•"/>
              </a:pPr>
              <a:r>
                <a:rPr lang="en-US" sz="3199">
                  <a:solidFill>
                    <a:srgbClr val="000000"/>
                  </a:solidFill>
                  <a:latin typeface="Calibri (MS)"/>
                  <a:ea typeface="Calibri (MS)"/>
                  <a:cs typeface="Calibri (MS)"/>
                  <a:sym typeface="Calibri (MS)"/>
                </a:rPr>
                <a:t>Some high-priced cryptocurrencies also show high trading volumes.</a:t>
              </a:r>
            </a:p>
            <a:p>
              <a:pPr algn="l" marL="690879" indent="-345439" lvl="1">
                <a:lnSpc>
                  <a:spcPts val="4447"/>
                </a:lnSpc>
                <a:buFont typeface="Arial"/>
                <a:buChar char="•"/>
              </a:pPr>
              <a:r>
                <a:rPr lang="en-US" sz="3199">
                  <a:solidFill>
                    <a:srgbClr val="000000"/>
                  </a:solidFill>
                  <a:latin typeface="Calibri (MS)"/>
                  <a:ea typeface="Calibri (MS)"/>
                  <a:cs typeface="Calibri (MS)"/>
                  <a:sym typeface="Calibri (MS)"/>
                </a:rPr>
                <a:t>However, certain lower priced coins can still have large trading volumes due to popularity.</a:t>
              </a:r>
            </a:p>
          </p:txBody>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221348" y="9277474"/>
            <a:ext cx="4838100" cy="1009526"/>
            <a:chOff x="0" y="0"/>
            <a:chExt cx="6450800" cy="1346035"/>
          </a:xfrm>
        </p:grpSpPr>
        <p:sp>
          <p:nvSpPr>
            <p:cNvPr name="Freeform 3" id="3"/>
            <p:cNvSpPr/>
            <p:nvPr/>
          </p:nvSpPr>
          <p:spPr>
            <a:xfrm flipH="false" flipV="false" rot="0">
              <a:off x="0" y="0"/>
              <a:ext cx="6450838" cy="1346073"/>
            </a:xfrm>
            <a:custGeom>
              <a:avLst/>
              <a:gdLst/>
              <a:ahLst/>
              <a:cxnLst/>
              <a:rect r="r" b="b" t="t" l="l"/>
              <a:pathLst>
                <a:path h="1346073" w="6450838">
                  <a:moveTo>
                    <a:pt x="0" y="0"/>
                  </a:moveTo>
                  <a:lnTo>
                    <a:pt x="6450838" y="0"/>
                  </a:lnTo>
                  <a:lnTo>
                    <a:pt x="6450838" y="1346073"/>
                  </a:lnTo>
                  <a:lnTo>
                    <a:pt x="0" y="1346073"/>
                  </a:lnTo>
                  <a:lnTo>
                    <a:pt x="0" y="0"/>
                  </a:lnTo>
                  <a:close/>
                </a:path>
              </a:pathLst>
            </a:custGeom>
            <a:blipFill>
              <a:blip r:embed="rId3"/>
              <a:stretch>
                <a:fillRect l="0" t="0" r="0" b="2"/>
              </a:stretch>
            </a:blipFill>
          </p:spPr>
        </p:sp>
      </p:grpSp>
      <p:grpSp>
        <p:nvGrpSpPr>
          <p:cNvPr name="Group 4" id="4"/>
          <p:cNvGrpSpPr/>
          <p:nvPr/>
        </p:nvGrpSpPr>
        <p:grpSpPr>
          <a:xfrm rot="0">
            <a:off x="1028700" y="1028700"/>
            <a:ext cx="17173866" cy="1988344"/>
            <a:chOff x="0" y="0"/>
            <a:chExt cx="22898488" cy="2651126"/>
          </a:xfrm>
        </p:grpSpPr>
        <p:sp>
          <p:nvSpPr>
            <p:cNvPr name="Freeform 5" id="5"/>
            <p:cNvSpPr/>
            <p:nvPr/>
          </p:nvSpPr>
          <p:spPr>
            <a:xfrm flipH="false" flipV="false" rot="0">
              <a:off x="0" y="0"/>
              <a:ext cx="22898488" cy="2651127"/>
            </a:xfrm>
            <a:custGeom>
              <a:avLst/>
              <a:gdLst/>
              <a:ahLst/>
              <a:cxnLst/>
              <a:rect r="r" b="b" t="t" l="l"/>
              <a:pathLst>
                <a:path h="2651127" w="22898488">
                  <a:moveTo>
                    <a:pt x="0" y="0"/>
                  </a:moveTo>
                  <a:lnTo>
                    <a:pt x="22898488" y="0"/>
                  </a:lnTo>
                  <a:lnTo>
                    <a:pt x="22898488" y="2651127"/>
                  </a:lnTo>
                  <a:lnTo>
                    <a:pt x="0" y="2651127"/>
                  </a:lnTo>
                  <a:close/>
                </a:path>
              </a:pathLst>
            </a:custGeom>
            <a:blipFill>
              <a:blip r:embed="rId4">
                <a:alphaModFix amt="0"/>
              </a:blip>
              <a:stretch>
                <a:fillRect l="0" t="-104573" r="8154" b="-104573"/>
              </a:stretch>
            </a:blipFill>
          </p:spPr>
        </p:sp>
        <p:sp>
          <p:nvSpPr>
            <p:cNvPr name="TextBox 6" id="6"/>
            <p:cNvSpPr txBox="true"/>
            <p:nvPr/>
          </p:nvSpPr>
          <p:spPr>
            <a:xfrm>
              <a:off x="0" y="-66675"/>
              <a:ext cx="22898488" cy="2717801"/>
            </a:xfrm>
            <a:prstGeom prst="rect">
              <a:avLst/>
            </a:prstGeom>
          </p:spPr>
          <p:txBody>
            <a:bodyPr anchor="ctr" rtlCol="false" tIns="0" lIns="0" bIns="0" rIns="0"/>
            <a:lstStyle/>
            <a:p>
              <a:pPr algn="l">
                <a:lnSpc>
                  <a:spcPts val="7128"/>
                </a:lnSpc>
              </a:pPr>
              <a:r>
                <a:rPr lang="en-US" b="true" sz="6600">
                  <a:solidFill>
                    <a:srgbClr val="FF0000"/>
                  </a:solidFill>
                  <a:latin typeface="Calibri (MS) Bold"/>
                  <a:ea typeface="Calibri (MS) Bold"/>
                  <a:cs typeface="Calibri (MS) Bold"/>
                  <a:sym typeface="Calibri (MS) Bold"/>
                </a:rPr>
                <a:t> EDA – Bivariate Analysis</a:t>
              </a:r>
            </a:p>
          </p:txBody>
        </p:sp>
      </p:grpSp>
      <p:sp>
        <p:nvSpPr>
          <p:cNvPr name="Freeform 7" id="7"/>
          <p:cNvSpPr/>
          <p:nvPr/>
        </p:nvSpPr>
        <p:spPr>
          <a:xfrm flipH="false" flipV="false" rot="0">
            <a:off x="3493371" y="3250539"/>
            <a:ext cx="11301259" cy="3785922"/>
          </a:xfrm>
          <a:custGeom>
            <a:avLst/>
            <a:gdLst/>
            <a:ahLst/>
            <a:cxnLst/>
            <a:rect r="r" b="b" t="t" l="l"/>
            <a:pathLst>
              <a:path h="3785922" w="11301259">
                <a:moveTo>
                  <a:pt x="0" y="0"/>
                </a:moveTo>
                <a:lnTo>
                  <a:pt x="11301258" y="0"/>
                </a:lnTo>
                <a:lnTo>
                  <a:pt x="11301258" y="3785922"/>
                </a:lnTo>
                <a:lnTo>
                  <a:pt x="0" y="3785922"/>
                </a:lnTo>
                <a:lnTo>
                  <a:pt x="0" y="0"/>
                </a:lnTo>
                <a:close/>
              </a:path>
            </a:pathLst>
          </a:custGeom>
          <a:blipFill>
            <a:blip r:embed="rId5"/>
            <a:stretch>
              <a:fillRect l="0" t="0" r="0" b="0"/>
            </a:stretch>
          </a:blipFill>
        </p:spPr>
      </p:sp>
      <p:sp>
        <p:nvSpPr>
          <p:cNvPr name="TextBox 8" id="8"/>
          <p:cNvSpPr txBox="true"/>
          <p:nvPr/>
        </p:nvSpPr>
        <p:spPr>
          <a:xfrm rot="0">
            <a:off x="1331729" y="2641315"/>
            <a:ext cx="16956271" cy="618109"/>
          </a:xfrm>
          <a:prstGeom prst="rect">
            <a:avLst/>
          </a:prstGeom>
        </p:spPr>
        <p:txBody>
          <a:bodyPr anchor="t" rtlCol="false" tIns="0" lIns="0" bIns="0" rIns="0">
            <a:spAutoFit/>
          </a:bodyPr>
          <a:lstStyle/>
          <a:p>
            <a:pPr algn="l">
              <a:lnSpc>
                <a:spcPts val="4447"/>
              </a:lnSpc>
            </a:pPr>
            <a:r>
              <a:rPr lang="en-US" sz="3199" b="true">
                <a:solidFill>
                  <a:srgbClr val="000000"/>
                </a:solidFill>
                <a:latin typeface="Calibri (MS) Bold"/>
                <a:ea typeface="Calibri (MS) Bold"/>
                <a:cs typeface="Calibri (MS) Bold"/>
                <a:sym typeface="Calibri (MS) Bold"/>
              </a:rPr>
              <a:t>7.How does market capitalization relate to trading volume in the cryptocurrency market?</a:t>
            </a:r>
          </a:p>
        </p:txBody>
      </p:sp>
      <p:grpSp>
        <p:nvGrpSpPr>
          <p:cNvPr name="Group 9" id="9"/>
          <p:cNvGrpSpPr/>
          <p:nvPr/>
        </p:nvGrpSpPr>
        <p:grpSpPr>
          <a:xfrm rot="0">
            <a:off x="1418038" y="7126794"/>
            <a:ext cx="16395190" cy="2655443"/>
            <a:chOff x="0" y="0"/>
            <a:chExt cx="21860254" cy="3540591"/>
          </a:xfrm>
        </p:grpSpPr>
        <p:sp>
          <p:nvSpPr>
            <p:cNvPr name="TextBox 10" id="10"/>
            <p:cNvSpPr txBox="true"/>
            <p:nvPr/>
          </p:nvSpPr>
          <p:spPr>
            <a:xfrm rot="0">
              <a:off x="0" y="-133350"/>
              <a:ext cx="6998409" cy="779695"/>
            </a:xfrm>
            <a:prstGeom prst="rect">
              <a:avLst/>
            </a:prstGeom>
          </p:spPr>
          <p:txBody>
            <a:bodyPr anchor="t" rtlCol="false" tIns="0" lIns="0" bIns="0" rIns="0">
              <a:spAutoFit/>
            </a:bodyPr>
            <a:lstStyle/>
            <a:p>
              <a:pPr algn="l">
                <a:lnSpc>
                  <a:spcPts val="4447"/>
                </a:lnSpc>
              </a:pPr>
              <a:r>
                <a:rPr lang="en-US" sz="3199" b="true">
                  <a:solidFill>
                    <a:srgbClr val="000000"/>
                  </a:solidFill>
                  <a:latin typeface="Calibri (MS) Bold"/>
                  <a:ea typeface="Calibri (MS) Bold"/>
                  <a:cs typeface="Calibri (MS) Bold"/>
                  <a:sym typeface="Calibri (MS) Bold"/>
                </a:rPr>
                <a:t>Observations:</a:t>
              </a:r>
            </a:p>
          </p:txBody>
        </p:sp>
        <p:sp>
          <p:nvSpPr>
            <p:cNvPr name="TextBox 11" id="11"/>
            <p:cNvSpPr txBox="true"/>
            <p:nvPr/>
          </p:nvSpPr>
          <p:spPr>
            <a:xfrm rot="0">
              <a:off x="0" y="512995"/>
              <a:ext cx="21860254" cy="3027595"/>
            </a:xfrm>
            <a:prstGeom prst="rect">
              <a:avLst/>
            </a:prstGeom>
          </p:spPr>
          <p:txBody>
            <a:bodyPr anchor="t" rtlCol="false" tIns="0" lIns="0" bIns="0" rIns="0">
              <a:spAutoFit/>
            </a:bodyPr>
            <a:lstStyle/>
            <a:p>
              <a:pPr algn="l" marL="690879" indent="-345439" lvl="1">
                <a:lnSpc>
                  <a:spcPts val="4447"/>
                </a:lnSpc>
                <a:buFont typeface="Arial"/>
                <a:buChar char="•"/>
              </a:pPr>
              <a:r>
                <a:rPr lang="en-US" sz="3199">
                  <a:solidFill>
                    <a:srgbClr val="000000"/>
                  </a:solidFill>
                  <a:latin typeface="Calibri (MS)"/>
                  <a:ea typeface="Calibri (MS)"/>
                  <a:cs typeface="Calibri (MS)"/>
                  <a:sym typeface="Calibri (MS)"/>
                </a:rPr>
                <a:t>Cryptocurrencies with higher market capitalization generally have higher trading volumes.</a:t>
              </a:r>
            </a:p>
            <a:p>
              <a:pPr algn="l" marL="690879" indent="-345439" lvl="1">
                <a:lnSpc>
                  <a:spcPts val="4447"/>
                </a:lnSpc>
                <a:buFont typeface="Arial"/>
                <a:buChar char="•"/>
              </a:pPr>
              <a:r>
                <a:rPr lang="en-US" sz="3199">
                  <a:solidFill>
                    <a:srgbClr val="000000"/>
                  </a:solidFill>
                  <a:latin typeface="Calibri (MS)"/>
                  <a:ea typeface="Calibri (MS)"/>
                  <a:cs typeface="Calibri (MS)"/>
                  <a:sym typeface="Calibri (MS)"/>
                </a:rPr>
                <a:t>Top-ranked cryptocurrencies dominate both market cap and trading activity.</a:t>
              </a:r>
            </a:p>
            <a:p>
              <a:pPr algn="l" marL="690879" indent="-345439" lvl="1">
                <a:lnSpc>
                  <a:spcPts val="4447"/>
                </a:lnSpc>
                <a:buFont typeface="Arial"/>
                <a:buChar char="•"/>
              </a:pPr>
              <a:r>
                <a:rPr lang="en-US" sz="3199">
                  <a:solidFill>
                    <a:srgbClr val="000000"/>
                  </a:solidFill>
                  <a:latin typeface="Calibri (MS)"/>
                  <a:ea typeface="Calibri (MS)"/>
                  <a:cs typeface="Calibri (MS)"/>
                  <a:sym typeface="Calibri (MS)"/>
                </a:rPr>
                <a:t>Some lower-ranked cryptocurrencies show moderate trading volume despite smaller market caps, indicating active market interest.</a:t>
              </a:r>
            </a:p>
          </p:txBody>
        </p:sp>
      </p:gr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221348" y="9277474"/>
            <a:ext cx="4838100" cy="1009526"/>
            <a:chOff x="0" y="0"/>
            <a:chExt cx="6450800" cy="1346035"/>
          </a:xfrm>
        </p:grpSpPr>
        <p:sp>
          <p:nvSpPr>
            <p:cNvPr name="Freeform 3" id="3"/>
            <p:cNvSpPr/>
            <p:nvPr/>
          </p:nvSpPr>
          <p:spPr>
            <a:xfrm flipH="false" flipV="false" rot="0">
              <a:off x="0" y="0"/>
              <a:ext cx="6450838" cy="1346073"/>
            </a:xfrm>
            <a:custGeom>
              <a:avLst/>
              <a:gdLst/>
              <a:ahLst/>
              <a:cxnLst/>
              <a:rect r="r" b="b" t="t" l="l"/>
              <a:pathLst>
                <a:path h="1346073" w="6450838">
                  <a:moveTo>
                    <a:pt x="0" y="0"/>
                  </a:moveTo>
                  <a:lnTo>
                    <a:pt x="6450838" y="0"/>
                  </a:lnTo>
                  <a:lnTo>
                    <a:pt x="6450838" y="1346073"/>
                  </a:lnTo>
                  <a:lnTo>
                    <a:pt x="0" y="1346073"/>
                  </a:lnTo>
                  <a:lnTo>
                    <a:pt x="0" y="0"/>
                  </a:lnTo>
                  <a:close/>
                </a:path>
              </a:pathLst>
            </a:custGeom>
            <a:blipFill>
              <a:blip r:embed="rId3"/>
              <a:stretch>
                <a:fillRect l="0" t="0" r="0" b="2"/>
              </a:stretch>
            </a:blipFill>
          </p:spPr>
        </p:sp>
      </p:grpSp>
      <p:grpSp>
        <p:nvGrpSpPr>
          <p:cNvPr name="Group 4" id="4"/>
          <p:cNvGrpSpPr/>
          <p:nvPr/>
        </p:nvGrpSpPr>
        <p:grpSpPr>
          <a:xfrm rot="0">
            <a:off x="1028700" y="1028700"/>
            <a:ext cx="17173866" cy="1988344"/>
            <a:chOff x="0" y="0"/>
            <a:chExt cx="22898488" cy="2651126"/>
          </a:xfrm>
        </p:grpSpPr>
        <p:sp>
          <p:nvSpPr>
            <p:cNvPr name="Freeform 5" id="5"/>
            <p:cNvSpPr/>
            <p:nvPr/>
          </p:nvSpPr>
          <p:spPr>
            <a:xfrm flipH="false" flipV="false" rot="0">
              <a:off x="0" y="0"/>
              <a:ext cx="22898488" cy="2651127"/>
            </a:xfrm>
            <a:custGeom>
              <a:avLst/>
              <a:gdLst/>
              <a:ahLst/>
              <a:cxnLst/>
              <a:rect r="r" b="b" t="t" l="l"/>
              <a:pathLst>
                <a:path h="2651127" w="22898488">
                  <a:moveTo>
                    <a:pt x="0" y="0"/>
                  </a:moveTo>
                  <a:lnTo>
                    <a:pt x="22898488" y="0"/>
                  </a:lnTo>
                  <a:lnTo>
                    <a:pt x="22898488" y="2651127"/>
                  </a:lnTo>
                  <a:lnTo>
                    <a:pt x="0" y="2651127"/>
                  </a:lnTo>
                  <a:close/>
                </a:path>
              </a:pathLst>
            </a:custGeom>
            <a:blipFill>
              <a:blip r:embed="rId4">
                <a:alphaModFix amt="0"/>
              </a:blip>
              <a:stretch>
                <a:fillRect l="0" t="-104573" r="8154" b="-104573"/>
              </a:stretch>
            </a:blipFill>
          </p:spPr>
        </p:sp>
        <p:sp>
          <p:nvSpPr>
            <p:cNvPr name="TextBox 6" id="6"/>
            <p:cNvSpPr txBox="true"/>
            <p:nvPr/>
          </p:nvSpPr>
          <p:spPr>
            <a:xfrm>
              <a:off x="0" y="-66675"/>
              <a:ext cx="22898488" cy="2717801"/>
            </a:xfrm>
            <a:prstGeom prst="rect">
              <a:avLst/>
            </a:prstGeom>
          </p:spPr>
          <p:txBody>
            <a:bodyPr anchor="ctr" rtlCol="false" tIns="0" lIns="0" bIns="0" rIns="0"/>
            <a:lstStyle/>
            <a:p>
              <a:pPr algn="l">
                <a:lnSpc>
                  <a:spcPts val="7128"/>
                </a:lnSpc>
              </a:pPr>
              <a:r>
                <a:rPr lang="en-US" b="true" sz="6600">
                  <a:solidFill>
                    <a:srgbClr val="FF0000"/>
                  </a:solidFill>
                  <a:latin typeface="Calibri (MS) Bold"/>
                  <a:ea typeface="Calibri (MS) Bold"/>
                  <a:cs typeface="Calibri (MS) Bold"/>
                  <a:sym typeface="Calibri (MS) Bold"/>
                </a:rPr>
                <a:t> EDA – Multivariate Analysis</a:t>
              </a:r>
            </a:p>
          </p:txBody>
        </p:sp>
      </p:grpSp>
      <p:sp>
        <p:nvSpPr>
          <p:cNvPr name="Freeform 7" id="7"/>
          <p:cNvSpPr/>
          <p:nvPr/>
        </p:nvSpPr>
        <p:spPr>
          <a:xfrm flipH="false" flipV="false" rot="0">
            <a:off x="11611481" y="3409273"/>
            <a:ext cx="6676519" cy="6024497"/>
          </a:xfrm>
          <a:custGeom>
            <a:avLst/>
            <a:gdLst/>
            <a:ahLst/>
            <a:cxnLst/>
            <a:rect r="r" b="b" t="t" l="l"/>
            <a:pathLst>
              <a:path h="6024497" w="6676519">
                <a:moveTo>
                  <a:pt x="0" y="0"/>
                </a:moveTo>
                <a:lnTo>
                  <a:pt x="6676519" y="0"/>
                </a:lnTo>
                <a:lnTo>
                  <a:pt x="6676519" y="6024497"/>
                </a:lnTo>
                <a:lnTo>
                  <a:pt x="0" y="6024497"/>
                </a:lnTo>
                <a:lnTo>
                  <a:pt x="0" y="0"/>
                </a:lnTo>
                <a:close/>
              </a:path>
            </a:pathLst>
          </a:custGeom>
          <a:blipFill>
            <a:blip r:embed="rId5"/>
            <a:stretch>
              <a:fillRect l="-193" t="0" r="-193" b="0"/>
            </a:stretch>
          </a:blipFill>
        </p:spPr>
      </p:sp>
      <p:sp>
        <p:nvSpPr>
          <p:cNvPr name="TextBox 8" id="8"/>
          <p:cNvSpPr txBox="true"/>
          <p:nvPr/>
        </p:nvSpPr>
        <p:spPr>
          <a:xfrm rot="0">
            <a:off x="1331729" y="2641315"/>
            <a:ext cx="17577323" cy="618109"/>
          </a:xfrm>
          <a:prstGeom prst="rect">
            <a:avLst/>
          </a:prstGeom>
        </p:spPr>
        <p:txBody>
          <a:bodyPr anchor="t" rtlCol="false" tIns="0" lIns="0" bIns="0" rIns="0">
            <a:spAutoFit/>
          </a:bodyPr>
          <a:lstStyle/>
          <a:p>
            <a:pPr algn="l">
              <a:lnSpc>
                <a:spcPts val="4447"/>
              </a:lnSpc>
            </a:pPr>
            <a:r>
              <a:rPr lang="en-US" sz="3199" b="true">
                <a:solidFill>
                  <a:srgbClr val="000000"/>
                </a:solidFill>
                <a:latin typeface="Calibri (MS) Bold"/>
                <a:ea typeface="Calibri (MS) Bold"/>
                <a:cs typeface="Calibri (MS) Bold"/>
                <a:sym typeface="Calibri (MS) Bold"/>
              </a:rPr>
              <a:t>8. Which variables show strong relationships with each other?</a:t>
            </a:r>
          </a:p>
        </p:txBody>
      </p:sp>
      <p:grpSp>
        <p:nvGrpSpPr>
          <p:cNvPr name="Group 9" id="9"/>
          <p:cNvGrpSpPr/>
          <p:nvPr/>
        </p:nvGrpSpPr>
        <p:grpSpPr>
          <a:xfrm rot="0">
            <a:off x="1331729" y="4217500"/>
            <a:ext cx="10194318" cy="4408043"/>
            <a:chOff x="0" y="0"/>
            <a:chExt cx="13592424" cy="5877391"/>
          </a:xfrm>
        </p:grpSpPr>
        <p:sp>
          <p:nvSpPr>
            <p:cNvPr name="TextBox 10" id="10"/>
            <p:cNvSpPr txBox="true"/>
            <p:nvPr/>
          </p:nvSpPr>
          <p:spPr>
            <a:xfrm rot="0">
              <a:off x="0" y="-114300"/>
              <a:ext cx="3368431" cy="718669"/>
            </a:xfrm>
            <a:prstGeom prst="rect">
              <a:avLst/>
            </a:prstGeom>
          </p:spPr>
          <p:txBody>
            <a:bodyPr anchor="t" rtlCol="false" tIns="0" lIns="0" bIns="0" rIns="0">
              <a:spAutoFit/>
            </a:bodyPr>
            <a:lstStyle/>
            <a:p>
              <a:pPr algn="l">
                <a:lnSpc>
                  <a:spcPts val="4159"/>
                </a:lnSpc>
              </a:pPr>
              <a:r>
                <a:rPr lang="en-US" sz="2992" b="true">
                  <a:solidFill>
                    <a:srgbClr val="000000"/>
                  </a:solidFill>
                  <a:latin typeface="Calibri (MS) Bold"/>
                  <a:ea typeface="Calibri (MS) Bold"/>
                  <a:cs typeface="Calibri (MS) Bold"/>
                  <a:sym typeface="Calibri (MS) Bold"/>
                </a:rPr>
                <a:t>Observation: </a:t>
              </a:r>
            </a:p>
          </p:txBody>
        </p:sp>
        <p:sp>
          <p:nvSpPr>
            <p:cNvPr name="TextBox 11" id="11"/>
            <p:cNvSpPr txBox="true"/>
            <p:nvPr/>
          </p:nvSpPr>
          <p:spPr>
            <a:xfrm rot="0">
              <a:off x="0" y="1351195"/>
              <a:ext cx="13592424" cy="4526195"/>
            </a:xfrm>
            <a:prstGeom prst="rect">
              <a:avLst/>
            </a:prstGeom>
          </p:spPr>
          <p:txBody>
            <a:bodyPr anchor="t" rtlCol="false" tIns="0" lIns="0" bIns="0" rIns="0">
              <a:spAutoFit/>
            </a:bodyPr>
            <a:lstStyle/>
            <a:p>
              <a:pPr algn="l" marL="690879" indent="-345439" lvl="1">
                <a:lnSpc>
                  <a:spcPts val="4447"/>
                </a:lnSpc>
                <a:buFont typeface="Arial"/>
                <a:buChar char="•"/>
              </a:pPr>
              <a:r>
                <a:rPr lang="en-US" sz="3199">
                  <a:solidFill>
                    <a:srgbClr val="000000"/>
                  </a:solidFill>
                  <a:latin typeface="Calibri (MS)"/>
                  <a:ea typeface="Calibri (MS)"/>
                  <a:cs typeface="Calibri (MS)"/>
                  <a:sym typeface="Calibri (MS)"/>
                </a:rPr>
                <a:t>Market cap shows moderate correlation with price and trading volume.</a:t>
              </a:r>
            </a:p>
            <a:p>
              <a:pPr algn="l" marL="690879" indent="-345439" lvl="1">
                <a:lnSpc>
                  <a:spcPts val="4447"/>
                </a:lnSpc>
                <a:buFont typeface="Arial"/>
                <a:buChar char="•"/>
              </a:pPr>
              <a:r>
                <a:rPr lang="en-US" sz="3199">
                  <a:solidFill>
                    <a:srgbClr val="000000"/>
                  </a:solidFill>
                  <a:latin typeface="Calibri (MS)"/>
                  <a:ea typeface="Calibri (MS)"/>
                  <a:cs typeface="Calibri (MS)"/>
                  <a:sym typeface="Calibri (MS)"/>
                </a:rPr>
                <a:t>Hourly, daily, and weekly perce</a:t>
              </a:r>
              <a:r>
                <a:rPr lang="en-US" sz="3199">
                  <a:solidFill>
                    <a:srgbClr val="000000"/>
                  </a:solidFill>
                  <a:latin typeface="Calibri (MS)"/>
                  <a:ea typeface="Calibri (MS)"/>
                  <a:cs typeface="Calibri (MS)"/>
                  <a:sym typeface="Calibri (MS)"/>
                </a:rPr>
                <a:t>ntage changes show short-term market volatility patterns.</a:t>
              </a:r>
            </a:p>
            <a:p>
              <a:pPr algn="l" marL="690879" indent="-345439" lvl="1">
                <a:lnSpc>
                  <a:spcPts val="4447"/>
                </a:lnSpc>
                <a:buFont typeface="Arial"/>
                <a:buChar char="•"/>
              </a:pPr>
              <a:r>
                <a:rPr lang="en-US" sz="3199">
                  <a:solidFill>
                    <a:srgbClr val="000000"/>
                  </a:solidFill>
                  <a:latin typeface="Calibri (MS)"/>
                  <a:ea typeface="Calibri (MS)"/>
                  <a:cs typeface="Calibri (MS)"/>
                  <a:sym typeface="Calibri (MS)"/>
                </a:rPr>
                <a:t>No extremely strong correlations exist among most variables.</a:t>
              </a:r>
            </a:p>
          </p:txBody>
        </p:sp>
      </p:gr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221348" y="9277474"/>
            <a:ext cx="4838100" cy="1009526"/>
            <a:chOff x="0" y="0"/>
            <a:chExt cx="6450800" cy="1346035"/>
          </a:xfrm>
        </p:grpSpPr>
        <p:sp>
          <p:nvSpPr>
            <p:cNvPr name="Freeform 3" id="3"/>
            <p:cNvSpPr/>
            <p:nvPr/>
          </p:nvSpPr>
          <p:spPr>
            <a:xfrm flipH="false" flipV="false" rot="0">
              <a:off x="0" y="0"/>
              <a:ext cx="6450838" cy="1346073"/>
            </a:xfrm>
            <a:custGeom>
              <a:avLst/>
              <a:gdLst/>
              <a:ahLst/>
              <a:cxnLst/>
              <a:rect r="r" b="b" t="t" l="l"/>
              <a:pathLst>
                <a:path h="1346073" w="6450838">
                  <a:moveTo>
                    <a:pt x="0" y="0"/>
                  </a:moveTo>
                  <a:lnTo>
                    <a:pt x="6450838" y="0"/>
                  </a:lnTo>
                  <a:lnTo>
                    <a:pt x="6450838" y="1346073"/>
                  </a:lnTo>
                  <a:lnTo>
                    <a:pt x="0" y="1346073"/>
                  </a:lnTo>
                  <a:lnTo>
                    <a:pt x="0" y="0"/>
                  </a:lnTo>
                  <a:close/>
                </a:path>
              </a:pathLst>
            </a:custGeom>
            <a:blipFill>
              <a:blip r:embed="rId2"/>
              <a:stretch>
                <a:fillRect l="0" t="0" r="0" b="2"/>
              </a:stretch>
            </a:blipFill>
          </p:spPr>
        </p:sp>
      </p:grpSp>
      <p:sp>
        <p:nvSpPr>
          <p:cNvPr name="Freeform 4" id="4"/>
          <p:cNvSpPr/>
          <p:nvPr/>
        </p:nvSpPr>
        <p:spPr>
          <a:xfrm flipH="false" flipV="false" rot="0">
            <a:off x="13221348" y="1028700"/>
            <a:ext cx="3746488" cy="7756210"/>
          </a:xfrm>
          <a:custGeom>
            <a:avLst/>
            <a:gdLst/>
            <a:ahLst/>
            <a:cxnLst/>
            <a:rect r="r" b="b" t="t" l="l"/>
            <a:pathLst>
              <a:path h="7756210" w="3746488">
                <a:moveTo>
                  <a:pt x="0" y="0"/>
                </a:moveTo>
                <a:lnTo>
                  <a:pt x="3746487" y="0"/>
                </a:lnTo>
                <a:lnTo>
                  <a:pt x="3746487" y="7756210"/>
                </a:lnTo>
                <a:lnTo>
                  <a:pt x="0" y="7756210"/>
                </a:lnTo>
                <a:lnTo>
                  <a:pt x="0" y="0"/>
                </a:lnTo>
                <a:close/>
              </a:path>
            </a:pathLst>
          </a:custGeom>
          <a:blipFill>
            <a:blip r:embed="rId3"/>
            <a:stretch>
              <a:fillRect l="0" t="-1677" r="0" b="-1677"/>
            </a:stretch>
          </a:blipFill>
        </p:spPr>
      </p:sp>
      <p:sp>
        <p:nvSpPr>
          <p:cNvPr name="TextBox 5" id="5"/>
          <p:cNvSpPr txBox="true"/>
          <p:nvPr/>
        </p:nvSpPr>
        <p:spPr>
          <a:xfrm rot="0">
            <a:off x="841653" y="1101528"/>
            <a:ext cx="7606737" cy="1072134"/>
          </a:xfrm>
          <a:prstGeom prst="rect">
            <a:avLst/>
          </a:prstGeom>
        </p:spPr>
        <p:txBody>
          <a:bodyPr anchor="t" rtlCol="false" tIns="0" lIns="0" bIns="0" rIns="0">
            <a:spAutoFit/>
          </a:bodyPr>
          <a:lstStyle/>
          <a:p>
            <a:pPr algn="ctr">
              <a:lnSpc>
                <a:spcPts val="7128"/>
              </a:lnSpc>
              <a:spcBef>
                <a:spcPct val="0"/>
              </a:spcBef>
            </a:pPr>
            <a:r>
              <a:rPr lang="en-US" b="true" sz="6600">
                <a:solidFill>
                  <a:srgbClr val="FF0000"/>
                </a:solidFill>
                <a:latin typeface="Calibri (MS) Bold"/>
                <a:ea typeface="Calibri (MS) Bold"/>
                <a:cs typeface="Calibri (MS) Bold"/>
                <a:sym typeface="Calibri (MS) Bold"/>
              </a:rPr>
              <a:t> EDA – Pivot Tables</a:t>
            </a:r>
          </a:p>
        </p:txBody>
      </p:sp>
      <p:sp>
        <p:nvSpPr>
          <p:cNvPr name="TextBox 6" id="6"/>
          <p:cNvSpPr txBox="true"/>
          <p:nvPr/>
        </p:nvSpPr>
        <p:spPr>
          <a:xfrm rot="0">
            <a:off x="1563462" y="2332491"/>
            <a:ext cx="10045957" cy="505968"/>
          </a:xfrm>
          <a:prstGeom prst="rect">
            <a:avLst/>
          </a:prstGeom>
        </p:spPr>
        <p:txBody>
          <a:bodyPr anchor="t" rtlCol="false" tIns="0" lIns="0" bIns="0" rIns="0">
            <a:spAutoFit/>
          </a:bodyPr>
          <a:lstStyle/>
          <a:p>
            <a:pPr algn="ctr">
              <a:lnSpc>
                <a:spcPts val="3456"/>
              </a:lnSpc>
              <a:spcBef>
                <a:spcPct val="0"/>
              </a:spcBef>
            </a:pPr>
            <a:r>
              <a:rPr lang="en-US" b="true" sz="3200">
                <a:solidFill>
                  <a:srgbClr val="000000"/>
                </a:solidFill>
                <a:latin typeface="Calibri (MS) Bold"/>
                <a:ea typeface="Calibri (MS) Bold"/>
                <a:cs typeface="Calibri (MS) Bold"/>
                <a:sym typeface="Calibri (MS) Bold"/>
              </a:rPr>
              <a:t>Which cryptocurrencies have the highest average price?</a:t>
            </a:r>
          </a:p>
        </p:txBody>
      </p:sp>
      <p:sp>
        <p:nvSpPr>
          <p:cNvPr name="TextBox 7" id="7"/>
          <p:cNvSpPr txBox="true"/>
          <p:nvPr/>
        </p:nvSpPr>
        <p:spPr>
          <a:xfrm rot="0">
            <a:off x="1563462" y="3313557"/>
            <a:ext cx="11017072" cy="3381794"/>
          </a:xfrm>
          <a:prstGeom prst="rect">
            <a:avLst/>
          </a:prstGeom>
        </p:spPr>
        <p:txBody>
          <a:bodyPr anchor="t" rtlCol="false" tIns="0" lIns="0" bIns="0" rIns="0">
            <a:spAutoFit/>
          </a:bodyPr>
          <a:lstStyle/>
          <a:p>
            <a:pPr algn="l">
              <a:lnSpc>
                <a:spcPts val="4327"/>
              </a:lnSpc>
              <a:spcBef>
                <a:spcPct val="0"/>
              </a:spcBef>
            </a:pPr>
            <a:r>
              <a:rPr lang="en-US" b="true" sz="4007">
                <a:solidFill>
                  <a:srgbClr val="000000"/>
                </a:solidFill>
                <a:latin typeface="Calibri (MS) Bold"/>
                <a:ea typeface="Calibri (MS) Bold"/>
                <a:cs typeface="Calibri (MS) Bold"/>
                <a:sym typeface="Calibri (MS) Bold"/>
              </a:rPr>
              <a:t>Observations:</a:t>
            </a:r>
          </a:p>
          <a:p>
            <a:pPr algn="l">
              <a:lnSpc>
                <a:spcPts val="4327"/>
              </a:lnSpc>
              <a:spcBef>
                <a:spcPct val="0"/>
              </a:spcBef>
            </a:pPr>
          </a:p>
          <a:p>
            <a:pPr algn="l" marL="865183" indent="-432592" lvl="1">
              <a:lnSpc>
                <a:spcPts val="4327"/>
              </a:lnSpc>
              <a:buFont typeface="Arial"/>
              <a:buChar char="•"/>
            </a:pPr>
            <a:r>
              <a:rPr lang="en-US" sz="4007">
                <a:solidFill>
                  <a:srgbClr val="000000"/>
                </a:solidFill>
                <a:latin typeface="Calibri (MS)"/>
                <a:ea typeface="Calibri (MS)"/>
                <a:cs typeface="Calibri (MS)"/>
                <a:sym typeface="Calibri (MS)"/>
              </a:rPr>
              <a:t>A small number of cryptocurrencies have significantly higher average prices.</a:t>
            </a:r>
          </a:p>
          <a:p>
            <a:pPr algn="l" marL="865183" indent="-432592" lvl="1">
              <a:lnSpc>
                <a:spcPts val="4327"/>
              </a:lnSpc>
              <a:buFont typeface="Arial"/>
              <a:buChar char="•"/>
            </a:pPr>
            <a:r>
              <a:rPr lang="en-US" sz="4007">
                <a:solidFill>
                  <a:srgbClr val="000000"/>
                </a:solidFill>
                <a:latin typeface="Calibri (MS)"/>
                <a:ea typeface="Calibri (MS)"/>
                <a:cs typeface="Calibri (MS)"/>
                <a:sym typeface="Calibri (MS)"/>
              </a:rPr>
              <a:t>Most cryptocurrencies have relatively low prices compared to top coins.</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221348" y="9277474"/>
            <a:ext cx="4838100" cy="1009526"/>
            <a:chOff x="0" y="0"/>
            <a:chExt cx="6450800" cy="1346035"/>
          </a:xfrm>
        </p:grpSpPr>
        <p:sp>
          <p:nvSpPr>
            <p:cNvPr name="Freeform 3" id="3"/>
            <p:cNvSpPr/>
            <p:nvPr/>
          </p:nvSpPr>
          <p:spPr>
            <a:xfrm flipH="false" flipV="false" rot="0">
              <a:off x="0" y="0"/>
              <a:ext cx="6450838" cy="1346073"/>
            </a:xfrm>
            <a:custGeom>
              <a:avLst/>
              <a:gdLst/>
              <a:ahLst/>
              <a:cxnLst/>
              <a:rect r="r" b="b" t="t" l="l"/>
              <a:pathLst>
                <a:path h="1346073" w="6450838">
                  <a:moveTo>
                    <a:pt x="0" y="0"/>
                  </a:moveTo>
                  <a:lnTo>
                    <a:pt x="6450838" y="0"/>
                  </a:lnTo>
                  <a:lnTo>
                    <a:pt x="6450838" y="1346073"/>
                  </a:lnTo>
                  <a:lnTo>
                    <a:pt x="0" y="1346073"/>
                  </a:lnTo>
                  <a:lnTo>
                    <a:pt x="0" y="0"/>
                  </a:lnTo>
                  <a:close/>
                </a:path>
              </a:pathLst>
            </a:custGeom>
            <a:blipFill>
              <a:blip r:embed="rId3"/>
              <a:stretch>
                <a:fillRect l="0" t="0" r="0" b="2"/>
              </a:stretch>
            </a:blipFill>
          </p:spPr>
        </p:sp>
      </p:grpSp>
      <p:grpSp>
        <p:nvGrpSpPr>
          <p:cNvPr name="Group 4" id="4"/>
          <p:cNvGrpSpPr/>
          <p:nvPr/>
        </p:nvGrpSpPr>
        <p:grpSpPr>
          <a:xfrm rot="0">
            <a:off x="1028700" y="1355557"/>
            <a:ext cx="17173866" cy="2235709"/>
            <a:chOff x="0" y="0"/>
            <a:chExt cx="22898488" cy="2980946"/>
          </a:xfrm>
        </p:grpSpPr>
        <p:sp>
          <p:nvSpPr>
            <p:cNvPr name="Freeform 5" id="5"/>
            <p:cNvSpPr/>
            <p:nvPr/>
          </p:nvSpPr>
          <p:spPr>
            <a:xfrm flipH="false" flipV="false" rot="0">
              <a:off x="0" y="0"/>
              <a:ext cx="22898488" cy="2980947"/>
            </a:xfrm>
            <a:custGeom>
              <a:avLst/>
              <a:gdLst/>
              <a:ahLst/>
              <a:cxnLst/>
              <a:rect r="r" b="b" t="t" l="l"/>
              <a:pathLst>
                <a:path h="2980947" w="22898488">
                  <a:moveTo>
                    <a:pt x="0" y="0"/>
                  </a:moveTo>
                  <a:lnTo>
                    <a:pt x="22898488" y="0"/>
                  </a:lnTo>
                  <a:lnTo>
                    <a:pt x="22898488" y="2980947"/>
                  </a:lnTo>
                  <a:lnTo>
                    <a:pt x="0" y="2980947"/>
                  </a:lnTo>
                  <a:close/>
                </a:path>
              </a:pathLst>
            </a:custGeom>
            <a:blipFill>
              <a:blip r:embed="rId4">
                <a:alphaModFix amt="0"/>
              </a:blip>
              <a:stretch>
                <a:fillRect l="0" t="-93003" r="8154" b="-81938"/>
              </a:stretch>
            </a:blipFill>
          </p:spPr>
        </p:sp>
        <p:sp>
          <p:nvSpPr>
            <p:cNvPr name="TextBox 6" id="6"/>
            <p:cNvSpPr txBox="true"/>
            <p:nvPr/>
          </p:nvSpPr>
          <p:spPr>
            <a:xfrm>
              <a:off x="0" y="-66675"/>
              <a:ext cx="22898488" cy="3047621"/>
            </a:xfrm>
            <a:prstGeom prst="rect">
              <a:avLst/>
            </a:prstGeom>
          </p:spPr>
          <p:txBody>
            <a:bodyPr anchor="ctr" rtlCol="false" tIns="0" lIns="0" bIns="0" rIns="0"/>
            <a:lstStyle/>
            <a:p>
              <a:pPr algn="l">
                <a:lnSpc>
                  <a:spcPts val="7128"/>
                </a:lnSpc>
              </a:pPr>
              <a:r>
                <a:rPr lang="en-US" sz="6600" b="true">
                  <a:solidFill>
                    <a:srgbClr val="FF0000"/>
                  </a:solidFill>
                  <a:latin typeface="Calibri (MS) Bold"/>
                  <a:ea typeface="Calibri (MS) Bold"/>
                  <a:cs typeface="Calibri (MS) Bold"/>
                  <a:sym typeface="Calibri (MS) Bold"/>
                </a:rPr>
                <a:t>🏁 Final EDA Conclusions </a:t>
              </a:r>
            </a:p>
            <a:p>
              <a:pPr algn="l">
                <a:lnSpc>
                  <a:spcPts val="7128"/>
                </a:lnSpc>
              </a:pPr>
            </a:p>
          </p:txBody>
        </p:sp>
      </p:grpSp>
      <p:sp>
        <p:nvSpPr>
          <p:cNvPr name="TextBox 7" id="7"/>
          <p:cNvSpPr txBox="true"/>
          <p:nvPr/>
        </p:nvSpPr>
        <p:spPr>
          <a:xfrm rot="0">
            <a:off x="1028700" y="2993248"/>
            <a:ext cx="17030748" cy="5038508"/>
          </a:xfrm>
          <a:prstGeom prst="rect">
            <a:avLst/>
          </a:prstGeom>
        </p:spPr>
        <p:txBody>
          <a:bodyPr anchor="t" rtlCol="false" tIns="0" lIns="0" bIns="0" rIns="0">
            <a:spAutoFit/>
          </a:bodyPr>
          <a:lstStyle/>
          <a:p>
            <a:pPr algn="l" marL="1024629" indent="-512315" lvl="1">
              <a:lnSpc>
                <a:spcPts val="6596"/>
              </a:lnSpc>
              <a:buFont typeface="Arial"/>
              <a:buChar char="•"/>
            </a:pPr>
            <a:r>
              <a:rPr lang="en-US" sz="4745">
                <a:solidFill>
                  <a:srgbClr val="000000"/>
                </a:solidFill>
                <a:latin typeface="Calibri (MS)"/>
                <a:ea typeface="Calibri (MS)"/>
                <a:cs typeface="Calibri (MS)"/>
                <a:sym typeface="Calibri (MS)"/>
              </a:rPr>
              <a:t>The cryptocurrency market i</a:t>
            </a:r>
            <a:r>
              <a:rPr lang="en-US" sz="4745">
                <a:solidFill>
                  <a:srgbClr val="000000"/>
                </a:solidFill>
                <a:latin typeface="Calibri (MS)"/>
                <a:ea typeface="Calibri (MS)"/>
                <a:cs typeface="Calibri (MS)"/>
                <a:sym typeface="Calibri (MS)"/>
              </a:rPr>
              <a:t>s dominated by a few major digital assets.</a:t>
            </a:r>
          </a:p>
          <a:p>
            <a:pPr algn="l" marL="1024629" indent="-512315" lvl="1">
              <a:lnSpc>
                <a:spcPts val="6596"/>
              </a:lnSpc>
              <a:buFont typeface="Arial"/>
              <a:buChar char="•"/>
            </a:pPr>
            <a:r>
              <a:rPr lang="en-US" sz="4745">
                <a:solidFill>
                  <a:srgbClr val="000000"/>
                </a:solidFill>
                <a:latin typeface="Calibri (MS)"/>
                <a:ea typeface="Calibri (MS)"/>
                <a:cs typeface="Calibri (MS)"/>
                <a:sym typeface="Calibri (MS)"/>
              </a:rPr>
              <a:t>Most</a:t>
            </a:r>
            <a:r>
              <a:rPr lang="en-US" sz="4745">
                <a:solidFill>
                  <a:srgbClr val="000000"/>
                </a:solidFill>
                <a:latin typeface="Calibri (MS)"/>
                <a:ea typeface="Calibri (MS)"/>
                <a:cs typeface="Calibri (MS)"/>
                <a:sym typeface="Calibri (MS)"/>
              </a:rPr>
              <a:t> cryptocurrencies fall within the lower price range.</a:t>
            </a:r>
          </a:p>
          <a:p>
            <a:pPr algn="l" marL="1024629" indent="-512315" lvl="1">
              <a:lnSpc>
                <a:spcPts val="6596"/>
              </a:lnSpc>
              <a:buFont typeface="Arial"/>
              <a:buChar char="•"/>
            </a:pPr>
            <a:r>
              <a:rPr lang="en-US" sz="4745">
                <a:solidFill>
                  <a:srgbClr val="000000"/>
                </a:solidFill>
                <a:latin typeface="Calibri (MS)"/>
                <a:ea typeface="Calibri (MS)"/>
                <a:cs typeface="Calibri (MS)"/>
                <a:sym typeface="Calibri (MS)"/>
              </a:rPr>
              <a:t>Trading volume is concentrated among popular cryptocurrencies.</a:t>
            </a:r>
          </a:p>
          <a:p>
            <a:pPr algn="l" marL="1024629" indent="-512315" lvl="1">
              <a:lnSpc>
                <a:spcPts val="6596"/>
              </a:lnSpc>
              <a:buFont typeface="Arial"/>
              <a:buChar char="•"/>
            </a:pPr>
            <a:r>
              <a:rPr lang="en-US" sz="4745">
                <a:solidFill>
                  <a:srgbClr val="000000"/>
                </a:solidFill>
                <a:latin typeface="Calibri (MS)"/>
                <a:ea typeface="Calibri (MS)"/>
                <a:cs typeface="Calibri (MS)"/>
                <a:sym typeface="Calibri (MS)"/>
              </a:rPr>
              <a:t>Price cha</a:t>
            </a:r>
            <a:r>
              <a:rPr lang="en-US" sz="4745">
                <a:solidFill>
                  <a:srgbClr val="000000"/>
                </a:solidFill>
                <a:latin typeface="Calibri (MS)"/>
                <a:ea typeface="Calibri (MS)"/>
                <a:cs typeface="Calibri (MS)"/>
                <a:sym typeface="Calibri (MS)"/>
              </a:rPr>
              <a:t>nges show high volatility in short time intervals.</a:t>
            </a:r>
          </a:p>
          <a:p>
            <a:pPr algn="l" marL="1024629" indent="-512315" lvl="1">
              <a:lnSpc>
                <a:spcPts val="6596"/>
              </a:lnSpc>
              <a:buFont typeface="Arial"/>
              <a:buChar char="•"/>
            </a:pPr>
            <a:r>
              <a:rPr lang="en-US" sz="4745">
                <a:solidFill>
                  <a:srgbClr val="000000"/>
                </a:solidFill>
                <a:latin typeface="Calibri (MS)"/>
                <a:ea typeface="Calibri (MS)"/>
                <a:cs typeface="Calibri (MS)"/>
                <a:sym typeface="Calibri (MS)"/>
              </a:rPr>
              <a:t>Market behavior is influenced by multiple interacting factors.</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221348" y="9277474"/>
            <a:ext cx="4838100" cy="1009526"/>
            <a:chOff x="0" y="0"/>
            <a:chExt cx="6450800" cy="1346035"/>
          </a:xfrm>
        </p:grpSpPr>
        <p:sp>
          <p:nvSpPr>
            <p:cNvPr name="Freeform 3" id="3"/>
            <p:cNvSpPr/>
            <p:nvPr/>
          </p:nvSpPr>
          <p:spPr>
            <a:xfrm flipH="false" flipV="false" rot="0">
              <a:off x="0" y="0"/>
              <a:ext cx="6450838" cy="1346073"/>
            </a:xfrm>
            <a:custGeom>
              <a:avLst/>
              <a:gdLst/>
              <a:ahLst/>
              <a:cxnLst/>
              <a:rect r="r" b="b" t="t" l="l"/>
              <a:pathLst>
                <a:path h="1346073" w="6450838">
                  <a:moveTo>
                    <a:pt x="0" y="0"/>
                  </a:moveTo>
                  <a:lnTo>
                    <a:pt x="6450838" y="0"/>
                  </a:lnTo>
                  <a:lnTo>
                    <a:pt x="6450838" y="1346073"/>
                  </a:lnTo>
                  <a:lnTo>
                    <a:pt x="0" y="1346073"/>
                  </a:lnTo>
                  <a:lnTo>
                    <a:pt x="0" y="0"/>
                  </a:lnTo>
                  <a:close/>
                </a:path>
              </a:pathLst>
            </a:custGeom>
            <a:blipFill>
              <a:blip r:embed="rId3"/>
              <a:stretch>
                <a:fillRect l="0" t="0" r="0" b="2"/>
              </a:stretch>
            </a:blipFill>
          </p:spPr>
        </p:sp>
      </p:grpSp>
      <p:grpSp>
        <p:nvGrpSpPr>
          <p:cNvPr name="Group 4" id="4"/>
          <p:cNvGrpSpPr/>
          <p:nvPr/>
        </p:nvGrpSpPr>
        <p:grpSpPr>
          <a:xfrm rot="0">
            <a:off x="1028700" y="1355557"/>
            <a:ext cx="17173866" cy="1988344"/>
            <a:chOff x="0" y="0"/>
            <a:chExt cx="22898488" cy="2651126"/>
          </a:xfrm>
        </p:grpSpPr>
        <p:sp>
          <p:nvSpPr>
            <p:cNvPr name="Freeform 5" id="5"/>
            <p:cNvSpPr/>
            <p:nvPr/>
          </p:nvSpPr>
          <p:spPr>
            <a:xfrm flipH="false" flipV="false" rot="0">
              <a:off x="0" y="0"/>
              <a:ext cx="22898488" cy="2651127"/>
            </a:xfrm>
            <a:custGeom>
              <a:avLst/>
              <a:gdLst/>
              <a:ahLst/>
              <a:cxnLst/>
              <a:rect r="r" b="b" t="t" l="l"/>
              <a:pathLst>
                <a:path h="2651127" w="22898488">
                  <a:moveTo>
                    <a:pt x="0" y="0"/>
                  </a:moveTo>
                  <a:lnTo>
                    <a:pt x="22898488" y="0"/>
                  </a:lnTo>
                  <a:lnTo>
                    <a:pt x="22898488" y="2651127"/>
                  </a:lnTo>
                  <a:lnTo>
                    <a:pt x="0" y="2651127"/>
                  </a:lnTo>
                  <a:close/>
                </a:path>
              </a:pathLst>
            </a:custGeom>
            <a:blipFill>
              <a:blip r:embed="rId4">
                <a:alphaModFix amt="0"/>
              </a:blip>
              <a:stretch>
                <a:fillRect l="0" t="-104573" r="8154" b="-104573"/>
              </a:stretch>
            </a:blipFill>
          </p:spPr>
        </p:sp>
        <p:sp>
          <p:nvSpPr>
            <p:cNvPr name="TextBox 6" id="6"/>
            <p:cNvSpPr txBox="true"/>
            <p:nvPr/>
          </p:nvSpPr>
          <p:spPr>
            <a:xfrm>
              <a:off x="0" y="-66675"/>
              <a:ext cx="22898488" cy="2717801"/>
            </a:xfrm>
            <a:prstGeom prst="rect">
              <a:avLst/>
            </a:prstGeom>
          </p:spPr>
          <p:txBody>
            <a:bodyPr anchor="ctr" rtlCol="false" tIns="0" lIns="0" bIns="0" rIns="0"/>
            <a:lstStyle/>
            <a:p>
              <a:pPr algn="l">
                <a:lnSpc>
                  <a:spcPts val="7128"/>
                </a:lnSpc>
              </a:pPr>
              <a:r>
                <a:rPr lang="en-US" b="true" sz="6600">
                  <a:solidFill>
                    <a:srgbClr val="FF0000"/>
                  </a:solidFill>
                  <a:latin typeface="Calibri (MS) Bold"/>
                  <a:ea typeface="Calibri (MS) Bold"/>
                  <a:cs typeface="Calibri (MS) Bold"/>
                  <a:sym typeface="Calibri (MS) Bold"/>
                </a:rPr>
                <a:t>🏁 Final Project Summary</a:t>
              </a:r>
            </a:p>
          </p:txBody>
        </p:sp>
      </p:grpSp>
      <p:sp>
        <p:nvSpPr>
          <p:cNvPr name="TextBox 7" id="7"/>
          <p:cNvSpPr txBox="true"/>
          <p:nvPr/>
        </p:nvSpPr>
        <p:spPr>
          <a:xfrm rot="0">
            <a:off x="1028700" y="2993248"/>
            <a:ext cx="17030748" cy="6695858"/>
          </a:xfrm>
          <a:prstGeom prst="rect">
            <a:avLst/>
          </a:prstGeom>
        </p:spPr>
        <p:txBody>
          <a:bodyPr anchor="t" rtlCol="false" tIns="0" lIns="0" bIns="0" rIns="0">
            <a:spAutoFit/>
          </a:bodyPr>
          <a:lstStyle/>
          <a:p>
            <a:pPr algn="l" marL="1024629" indent="-512315" lvl="1">
              <a:lnSpc>
                <a:spcPts val="6596"/>
              </a:lnSpc>
              <a:buFont typeface="Arial"/>
              <a:buChar char="•"/>
            </a:pPr>
            <a:r>
              <a:rPr lang="en-US" sz="4745">
                <a:solidFill>
                  <a:srgbClr val="000000"/>
                </a:solidFill>
                <a:latin typeface="Calibri (MS)"/>
                <a:ea typeface="Calibri (MS)"/>
                <a:cs typeface="Calibri (MS)"/>
                <a:sym typeface="Calibri (MS)"/>
              </a:rPr>
              <a:t>This project analyzed cryptocurrency market data using Exploratory Data Analysis techniques.</a:t>
            </a:r>
          </a:p>
          <a:p>
            <a:pPr algn="l">
              <a:lnSpc>
                <a:spcPts val="6596"/>
              </a:lnSpc>
            </a:pPr>
            <a:r>
              <a:rPr lang="en-US" sz="4745" b="true">
                <a:solidFill>
                  <a:srgbClr val="000000"/>
                </a:solidFill>
                <a:latin typeface="Calibri (MS) Bold"/>
                <a:ea typeface="Calibri (MS) Bold"/>
                <a:cs typeface="Calibri (MS) Bold"/>
                <a:sym typeface="Calibri (MS) Bold"/>
              </a:rPr>
              <a:t>Key steps included:</a:t>
            </a:r>
          </a:p>
          <a:p>
            <a:pPr algn="l" marL="1024629" indent="-512315" lvl="1">
              <a:lnSpc>
                <a:spcPts val="6596"/>
              </a:lnSpc>
              <a:buFont typeface="Arial"/>
              <a:buChar char="•"/>
            </a:pPr>
            <a:r>
              <a:rPr lang="en-US" sz="4745">
                <a:solidFill>
                  <a:srgbClr val="000000"/>
                </a:solidFill>
                <a:latin typeface="Calibri (MS)"/>
                <a:ea typeface="Calibri (MS)"/>
                <a:cs typeface="Calibri (MS)"/>
                <a:sym typeface="Calibri (MS)"/>
              </a:rPr>
              <a:t>Collecting market data t</a:t>
            </a:r>
            <a:r>
              <a:rPr lang="en-US" sz="4745">
                <a:solidFill>
                  <a:srgbClr val="000000"/>
                </a:solidFill>
                <a:latin typeface="Calibri (MS)"/>
                <a:ea typeface="Calibri (MS)"/>
                <a:cs typeface="Calibri (MS)"/>
                <a:sym typeface="Calibri (MS)"/>
              </a:rPr>
              <a:t>hrough web scraping</a:t>
            </a:r>
          </a:p>
          <a:p>
            <a:pPr algn="l" marL="1024629" indent="-512315" lvl="1">
              <a:lnSpc>
                <a:spcPts val="6596"/>
              </a:lnSpc>
              <a:buFont typeface="Arial"/>
              <a:buChar char="•"/>
            </a:pPr>
            <a:r>
              <a:rPr lang="en-US" sz="4745">
                <a:solidFill>
                  <a:srgbClr val="000000"/>
                </a:solidFill>
                <a:latin typeface="Calibri (MS)"/>
                <a:ea typeface="Calibri (MS)"/>
                <a:cs typeface="Calibri (MS)"/>
                <a:sym typeface="Calibri (MS)"/>
              </a:rPr>
              <a:t>Cleaning and preprocessing the dataset</a:t>
            </a:r>
          </a:p>
          <a:p>
            <a:pPr algn="l" marL="1024629" indent="-512315" lvl="1">
              <a:lnSpc>
                <a:spcPts val="6596"/>
              </a:lnSpc>
              <a:buFont typeface="Arial"/>
              <a:buChar char="•"/>
            </a:pPr>
            <a:r>
              <a:rPr lang="en-US" sz="4745">
                <a:solidFill>
                  <a:srgbClr val="000000"/>
                </a:solidFill>
                <a:latin typeface="Calibri (MS)"/>
                <a:ea typeface="Calibri (MS)"/>
                <a:cs typeface="Calibri (MS)"/>
                <a:sym typeface="Calibri (MS)"/>
              </a:rPr>
              <a:t>Performing exploratory analysis</a:t>
            </a:r>
          </a:p>
          <a:p>
            <a:pPr algn="l" marL="1024629" indent="-512315" lvl="1">
              <a:lnSpc>
                <a:spcPts val="6596"/>
              </a:lnSpc>
              <a:buFont typeface="Arial"/>
              <a:buChar char="•"/>
            </a:pPr>
            <a:r>
              <a:rPr lang="en-US" sz="4745">
                <a:solidFill>
                  <a:srgbClr val="000000"/>
                </a:solidFill>
                <a:latin typeface="Calibri (MS)"/>
                <a:ea typeface="Calibri (MS)"/>
                <a:cs typeface="Calibri (MS)"/>
                <a:sym typeface="Calibri (MS)"/>
              </a:rPr>
              <a:t>Identifying trends and patterns in cryptocurrency prices</a:t>
            </a:r>
          </a:p>
          <a:p>
            <a:pPr algn="l">
              <a:lnSpc>
                <a:spcPts val="6596"/>
              </a:lnSpc>
            </a:pP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221348" y="9277474"/>
            <a:ext cx="4838100" cy="1009526"/>
            <a:chOff x="0" y="0"/>
            <a:chExt cx="6450800" cy="1346035"/>
          </a:xfrm>
        </p:grpSpPr>
        <p:sp>
          <p:nvSpPr>
            <p:cNvPr name="Freeform 3" id="3"/>
            <p:cNvSpPr/>
            <p:nvPr/>
          </p:nvSpPr>
          <p:spPr>
            <a:xfrm flipH="false" flipV="false" rot="0">
              <a:off x="0" y="0"/>
              <a:ext cx="6450838" cy="1346073"/>
            </a:xfrm>
            <a:custGeom>
              <a:avLst/>
              <a:gdLst/>
              <a:ahLst/>
              <a:cxnLst/>
              <a:rect r="r" b="b" t="t" l="l"/>
              <a:pathLst>
                <a:path h="1346073" w="6450838">
                  <a:moveTo>
                    <a:pt x="0" y="0"/>
                  </a:moveTo>
                  <a:lnTo>
                    <a:pt x="6450838" y="0"/>
                  </a:lnTo>
                  <a:lnTo>
                    <a:pt x="6450838" y="1346073"/>
                  </a:lnTo>
                  <a:lnTo>
                    <a:pt x="0" y="1346073"/>
                  </a:lnTo>
                  <a:lnTo>
                    <a:pt x="0" y="0"/>
                  </a:lnTo>
                  <a:close/>
                </a:path>
              </a:pathLst>
            </a:custGeom>
            <a:blipFill>
              <a:blip r:embed="rId3"/>
              <a:stretch>
                <a:fillRect l="0" t="0" r="0" b="2"/>
              </a:stretch>
            </a:blipFill>
          </p:spPr>
        </p:sp>
      </p:grpSp>
      <p:grpSp>
        <p:nvGrpSpPr>
          <p:cNvPr name="Group 4" id="4"/>
          <p:cNvGrpSpPr/>
          <p:nvPr/>
        </p:nvGrpSpPr>
        <p:grpSpPr>
          <a:xfrm rot="0">
            <a:off x="9699774" y="2776128"/>
            <a:ext cx="6698466" cy="4251474"/>
            <a:chOff x="0" y="0"/>
            <a:chExt cx="8931288" cy="5668632"/>
          </a:xfrm>
        </p:grpSpPr>
        <p:sp>
          <p:nvSpPr>
            <p:cNvPr name="Freeform 5" id="5"/>
            <p:cNvSpPr/>
            <p:nvPr/>
          </p:nvSpPr>
          <p:spPr>
            <a:xfrm flipH="false" flipV="false" rot="0">
              <a:off x="0" y="0"/>
              <a:ext cx="8931275" cy="5668645"/>
            </a:xfrm>
            <a:custGeom>
              <a:avLst/>
              <a:gdLst/>
              <a:ahLst/>
              <a:cxnLst/>
              <a:rect r="r" b="b" t="t" l="l"/>
              <a:pathLst>
                <a:path h="5668645" w="8931275">
                  <a:moveTo>
                    <a:pt x="0" y="0"/>
                  </a:moveTo>
                  <a:lnTo>
                    <a:pt x="8931275" y="0"/>
                  </a:lnTo>
                  <a:lnTo>
                    <a:pt x="8931275" y="5668645"/>
                  </a:lnTo>
                  <a:lnTo>
                    <a:pt x="0" y="5668645"/>
                  </a:lnTo>
                  <a:lnTo>
                    <a:pt x="0" y="0"/>
                  </a:lnTo>
                  <a:close/>
                </a:path>
              </a:pathLst>
            </a:custGeom>
            <a:blipFill>
              <a:blip r:embed="rId4"/>
              <a:stretch>
                <a:fillRect l="0" t="0" r="0" b="0"/>
              </a:stretch>
            </a:blipFill>
          </p:spPr>
        </p:sp>
      </p:grpSp>
      <p:sp>
        <p:nvSpPr>
          <p:cNvPr name="TextBox 6" id="6"/>
          <p:cNvSpPr txBox="true"/>
          <p:nvPr/>
        </p:nvSpPr>
        <p:spPr>
          <a:xfrm rot="0">
            <a:off x="1958321" y="4541501"/>
            <a:ext cx="5309902" cy="1062761"/>
          </a:xfrm>
          <a:prstGeom prst="rect">
            <a:avLst/>
          </a:prstGeom>
        </p:spPr>
        <p:txBody>
          <a:bodyPr anchor="t" rtlCol="false" tIns="0" lIns="0" bIns="0" rIns="0">
            <a:spAutoFit/>
          </a:bodyPr>
          <a:lstStyle/>
          <a:p>
            <a:pPr algn="l">
              <a:lnSpc>
                <a:spcPts val="7920"/>
              </a:lnSpc>
            </a:pPr>
            <a:r>
              <a:rPr lang="en-US" sz="6600">
                <a:solidFill>
                  <a:srgbClr val="C00000"/>
                </a:solidFill>
                <a:latin typeface="Libre Baskerville"/>
                <a:ea typeface="Libre Baskerville"/>
                <a:cs typeface="Libre Baskerville"/>
                <a:sym typeface="Libre Baskerville"/>
              </a:rPr>
              <a:t>THANK YOU</a:t>
            </a:r>
          </a:p>
        </p:txBody>
      </p:sp>
    </p:spTree>
  </p:cSld>
  <p:clrMapOvr>
    <a:masterClrMapping/>
  </p:clrMapOvr>
  <p:transition spd="slow">
    <p:cover dir="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DAHDe6Ekz0g</dc:identifier>
  <dcterms:modified xsi:type="dcterms:W3CDTF">2011-08-01T06:04:30Z</dcterms:modified>
  <cp:revision>1</cp:revision>
  <dc:title>Coin Market Analysis</dc:title>
</cp:coreProperties>
</file>